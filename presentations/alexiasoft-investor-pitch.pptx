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 type="wide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_1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_1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</p:sp>
      <p:sp>
        <p:nvSpPr>
          <p:cNvPr id="3" name="Box 3"/>
          <p:cNvSpPr/>
          <p:nvPr/>
        </p:nvSpPr>
        <p:spPr>
          <a:xfrm>
            <a:off x="320040" y="256032"/>
            <a:ext cx="1005840" cy="73152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</p:sp>
      <p:sp>
        <p:nvSpPr>
          <p:cNvPr id="4" name="Box 4"/>
          <p:cNvSpPr/>
          <p:nvPr/>
        </p:nvSpPr>
        <p:spPr>
          <a:xfrm>
            <a:off x="320040" y="384048"/>
            <a:ext cx="502920" cy="73152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594360" y="548640"/>
            <a:ext cx="10789920" cy="731520"/>
          </a:xfrm>
          <a:prstGeom prst="rect">
            <a:avLst/>
          </a:prstGeom>
        </p:spPr>
        <p:txBody>
          <a:bodyPr wrap="square"/>
          <a:lstStyle/>
          <a:p>
            <a:pPr algn="l">
              <a:buNone/>
            </a:pPr>
            <a:r>
              <a:rPr lang="th-TH" sz="3400" b="1">
                <a:solidFill>
                  <a:srgbClr val="F8FAFC"/>
                </a:solidFill>
                <a:latin typeface="Tahoma"/>
                <a:ea typeface="Tahoma"/>
              </a:rPr>
              <a:t>AlexiaSoft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612648" y="1234440"/>
            <a:ext cx="10515600" cy="502920"/>
          </a:xfrm>
          <a:prstGeom prst="rect">
            <a:avLst/>
          </a:prstGeom>
        </p:spPr>
        <p:txBody>
          <a:bodyPr wrap="square"/>
          <a:lstStyle/>
          <a:p>
            <a:pPr algn="l">
              <a:buNone/>
            </a:pPr>
            <a:r>
              <a:rPr lang="th-TH" sz="1800" b="0">
                <a:solidFill>
                  <a:srgbClr val="CBD5E1"/>
                </a:solidFill>
                <a:latin typeface="Tahoma"/>
                <a:ea typeface="Tahoma"/>
              </a:rPr>
              <a:t>โอกาสซื้อกิจการ / ร่วมลงทุนในซอฟต์แวร์ธุรกิจไทยที่มีสินค้าพร้อมขาย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731520" y="1874519"/>
            <a:ext cx="10789920" cy="4206240"/>
          </a:xfrm>
          <a:prstGeom prst="rect">
            <a:avLst/>
          </a:prstGeom>
        </p:spPr>
        <p:txBody>
          <a:bodyPr wrap="square"/>
          <a:lstStyle/>
          <a:p>
            <a:pPr algn="l">
              <a:buNone/>
            </a:pPr>
            <a:r>
              <a:rPr lang="th-TH" sz="2000" b="0">
                <a:solidFill>
                  <a:srgbClr val="F8FAFC"/>
                </a:solidFill>
                <a:latin typeface="Tahoma"/>
                <a:ea typeface="Tahoma"/>
              </a:rPr>
              <a:t>MintPOS + MintERP + ทีมทำ Custom Software</a:t>
            </a:r>
          </a:p>
          <a:p>
            <a:pPr algn="l">
              <a:buNone/>
            </a:pPr>
            <a:r>
              <a:rPr lang="th-TH" sz="2000" b="0">
                <a:solidFill>
                  <a:srgbClr val="F8FAFC"/>
                </a:solidFill>
                <a:latin typeface="Tahoma"/>
                <a:ea typeface="Tahoma"/>
              </a:rPr>
              <a:t>เปลี่ยนรายได้โปรเจกต์เป็นรายได้แพลตฟอร์มแบบทำซ้ำได้</a:t>
            </a:r>
          </a:p>
          <a:p>
            <a:pPr algn="l">
              <a:buNone/>
            </a:pPr>
            <a:r>
              <a:rPr lang="th-TH" sz="2000" b="0">
                <a:solidFill>
                  <a:srgbClr val="F8FAFC"/>
                </a:solidFill>
                <a:latin typeface="Tahoma"/>
                <a:ea typeface="Tahoma"/>
              </a:rPr>
              <a:t>เป้าหมาย: ขยายจาก service-led เป็น product-led SaaS สำหรับ SME ไทย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</p:spPr>
        <p:txBody>
          <a:bodyPr wrap="square"/>
          <a:lstStyle/>
          <a:p>
            <a:pPr algn="r">
              <a:buNone/>
            </a:pPr>
            <a:r>
              <a:rPr lang="th-TH" sz="800" b="0">
                <a:solidFill>
                  <a:srgbClr val="64748B"/>
                </a:solidFill>
                <a:latin typeface="Tahoma"/>
                <a:ea typeface="Tahoma"/>
              </a:rPr>
              <a:t>CONFIDENTIAL | AlexiaSoft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</p:sp>
      <p:sp>
        <p:nvSpPr>
          <p:cNvPr id="3" name="Box 3"/>
          <p:cNvSpPr/>
          <p:nvPr/>
        </p:nvSpPr>
        <p:spPr>
          <a:xfrm>
            <a:off x="320040" y="256032"/>
            <a:ext cx="1005840" cy="73152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</p:sp>
      <p:sp>
        <p:nvSpPr>
          <p:cNvPr id="4" name="Box 4"/>
          <p:cNvSpPr/>
          <p:nvPr/>
        </p:nvSpPr>
        <p:spPr>
          <a:xfrm>
            <a:off x="320040" y="384048"/>
            <a:ext cx="502920" cy="73152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594360" y="548640"/>
            <a:ext cx="10789920" cy="731520"/>
          </a:xfrm>
          <a:prstGeom prst="rect">
            <a:avLst/>
          </a:prstGeom>
        </p:spPr>
        <p:txBody>
          <a:bodyPr wrap="square"/>
          <a:lstStyle/>
          <a:p>
            <a:pPr algn="l">
              <a:buNone/>
            </a:pPr>
            <a:r>
              <a:rPr lang="th-TH" sz="3400" b="1">
                <a:solidFill>
                  <a:srgbClr val="F8FAFC"/>
                </a:solidFill>
                <a:latin typeface="Tahoma"/>
                <a:ea typeface="Tahoma"/>
              </a:rPr>
              <a:t>Executive Summary</a:t>
            </a:r>
          </a:p>
        </p:txBody>
      </p:sp>
      <p:sp>
        <p:nvSpPr>
          <p:cNvPr id="6" name="Box 6"/>
          <p:cNvSpPr/>
          <p:nvPr/>
        </p:nvSpPr>
        <p:spPr>
          <a:xfrm>
            <a:off x="685800" y="1417320"/>
            <a:ext cx="3383280" cy="14630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D4BF"/>
            </a:solidFill>
          </a:ln>
        </p:spPr>
      </p:sp>
      <p:sp>
        <p:nvSpPr>
          <p:cNvPr id="7" name="Text 7"/>
          <p:cNvSpPr txBox="1"/>
          <p:nvPr/>
        </p:nvSpPr>
        <p:spPr>
          <a:xfrm>
            <a:off x="886968" y="1581912"/>
            <a:ext cx="2980944" cy="320040"/>
          </a:xfrm>
          <a:prstGeom prst="rect">
            <a:avLst/>
          </a:prstGeom>
        </p:spPr>
        <p:txBody>
          <a:bodyPr wrap="square"/>
          <a:lstStyle/>
          <a:p>
            <a:pPr algn="l">
              <a:buNone/>
            </a:pPr>
            <a:r>
              <a:rPr lang="th-TH" sz="1800" b="1">
                <a:solidFill>
                  <a:srgbClr val="F8FAFC"/>
                </a:solidFill>
                <a:latin typeface="Tahoma"/>
                <a:ea typeface="Tahoma"/>
              </a:rPr>
              <a:t>มีฐานพิสูจน์แล้ว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886968" y="1984248"/>
            <a:ext cx="2980944" cy="749808"/>
          </a:xfrm>
          <a:prstGeom prst="rect">
            <a:avLst/>
          </a:prstGeom>
        </p:spPr>
        <p:txBody>
          <a:bodyPr wrap="square"/>
          <a:lstStyle/>
          <a:p>
            <a:pPr algn="l">
              <a:buChar char="•"/>
              <a:buFont typeface="Arial"/>
            </a:pPr>
            <a:r>
              <a:rPr lang="th-TH" sz="1500" b="0">
                <a:solidFill>
                  <a:srgbClr val="CBD5E1"/>
                </a:solidFill>
                <a:latin typeface="Tahoma"/>
                <a:ea typeface="Tahoma"/>
              </a:rPr>
              <a:t>6+ ปีประสบการณ์</a:t>
            </a:r>
          </a:p>
          <a:p>
            <a:pPr algn="l">
              <a:buChar char="•"/>
              <a:buFont typeface="Arial"/>
            </a:pPr>
            <a:r>
              <a:rPr lang="th-TH" sz="1500" b="0">
                <a:solidFill>
                  <a:srgbClr val="CBD5E1"/>
                </a:solidFill>
                <a:latin typeface="Tahoma"/>
                <a:ea typeface="Tahoma"/>
              </a:rPr>
              <a:t>20+ โปรเจกต์</a:t>
            </a:r>
          </a:p>
          <a:p>
            <a:pPr algn="l">
              <a:buChar char="•"/>
              <a:buFont typeface="Arial"/>
            </a:pPr>
            <a:r>
              <a:rPr lang="th-TH" sz="1500" b="0">
                <a:solidFill>
                  <a:srgbClr val="CBD5E1"/>
                </a:solidFill>
                <a:latin typeface="Tahoma"/>
                <a:ea typeface="Tahoma"/>
              </a:rPr>
              <a:t>ลูกค้า/โลโก้ที่ไว้วางใจ 9 ราย</a:t>
            </a:r>
          </a:p>
        </p:txBody>
      </p:sp>
      <p:sp>
        <p:nvSpPr>
          <p:cNvPr id="9" name="Box 9"/>
          <p:cNvSpPr/>
          <p:nvPr/>
        </p:nvSpPr>
        <p:spPr>
          <a:xfrm>
            <a:off x="4434840" y="1417320"/>
            <a:ext cx="3383280" cy="14630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8B5CF6"/>
            </a:solidFill>
          </a:ln>
        </p:spPr>
      </p:sp>
      <p:sp>
        <p:nvSpPr>
          <p:cNvPr id="10" name="Text 10"/>
          <p:cNvSpPr txBox="1"/>
          <p:nvPr/>
        </p:nvSpPr>
        <p:spPr>
          <a:xfrm>
            <a:off x="4636007" y="1581912"/>
            <a:ext cx="2980944" cy="320040"/>
          </a:xfrm>
          <a:prstGeom prst="rect">
            <a:avLst/>
          </a:prstGeom>
        </p:spPr>
        <p:txBody>
          <a:bodyPr wrap="square"/>
          <a:lstStyle/>
          <a:p>
            <a:pPr algn="l">
              <a:buNone/>
            </a:pPr>
            <a:r>
              <a:rPr lang="th-TH" sz="1800" b="1">
                <a:solidFill>
                  <a:srgbClr val="F8FAFC"/>
                </a:solidFill>
                <a:latin typeface="Tahoma"/>
                <a:ea typeface="Tahoma"/>
              </a:rPr>
              <a:t>มีสินค้าแล้ว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4636007" y="1984248"/>
            <a:ext cx="2980944" cy="749808"/>
          </a:xfrm>
          <a:prstGeom prst="rect">
            <a:avLst/>
          </a:prstGeom>
        </p:spPr>
        <p:txBody>
          <a:bodyPr wrap="square"/>
          <a:lstStyle/>
          <a:p>
            <a:pPr algn="l">
              <a:buChar char="•"/>
              <a:buFont typeface="Arial"/>
            </a:pPr>
            <a:r>
              <a:rPr lang="th-TH" sz="1500" b="0">
                <a:solidFill>
                  <a:srgbClr val="CBD5E1"/>
                </a:solidFill>
                <a:latin typeface="Tahoma"/>
                <a:ea typeface="Tahoma"/>
              </a:rPr>
              <a:t>MintPOS สำหรับร้านค้า/ร้านอาหาร</a:t>
            </a:r>
          </a:p>
          <a:p>
            <a:pPr algn="l">
              <a:buChar char="•"/>
              <a:buFont typeface="Arial"/>
            </a:pPr>
            <a:r>
              <a:rPr lang="th-TH" sz="1500" b="0">
                <a:solidFill>
                  <a:srgbClr val="CBD5E1"/>
                </a:solidFill>
                <a:latin typeface="Tahoma"/>
                <a:ea typeface="Tahoma"/>
              </a:rPr>
              <a:t>MintERP สำหรับงานหลังบ้าน</a:t>
            </a:r>
          </a:p>
          <a:p>
            <a:pPr algn="l">
              <a:buChar char="•"/>
              <a:buFont typeface="Arial"/>
            </a:pPr>
            <a:r>
              <a:rPr lang="th-TH" sz="1500" b="0">
                <a:solidFill>
                  <a:srgbClr val="CBD5E1"/>
                </a:solidFill>
                <a:latin typeface="Tahoma"/>
                <a:ea typeface="Tahoma"/>
              </a:rPr>
              <a:t>พร้อมเดโมและขายต่อได้</a:t>
            </a:r>
          </a:p>
        </p:txBody>
      </p:sp>
      <p:sp>
        <p:nvSpPr>
          <p:cNvPr id="12" name="Box 12"/>
          <p:cNvSpPr/>
          <p:nvPr/>
        </p:nvSpPr>
        <p:spPr>
          <a:xfrm>
            <a:off x="8183879" y="1417320"/>
            <a:ext cx="3383280" cy="14630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FBBF24"/>
            </a:solidFill>
          </a:ln>
        </p:spPr>
      </p:sp>
      <p:sp>
        <p:nvSpPr>
          <p:cNvPr id="13" name="Text 13"/>
          <p:cNvSpPr txBox="1"/>
          <p:nvPr/>
        </p:nvSpPr>
        <p:spPr>
          <a:xfrm>
            <a:off x="8385048" y="1581912"/>
            <a:ext cx="2980944" cy="320040"/>
          </a:xfrm>
          <a:prstGeom prst="rect">
            <a:avLst/>
          </a:prstGeom>
        </p:spPr>
        <p:txBody>
          <a:bodyPr wrap="square"/>
          <a:lstStyle/>
          <a:p>
            <a:pPr algn="l">
              <a:buNone/>
            </a:pPr>
            <a:r>
              <a:rPr lang="th-TH" sz="1800" b="1">
                <a:solidFill>
                  <a:srgbClr val="F8FAFC"/>
                </a:solidFill>
                <a:latin typeface="Tahoma"/>
                <a:ea typeface="Tahoma"/>
              </a:rPr>
              <a:t>ดีลที่ซื้อได้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8385048" y="1984248"/>
            <a:ext cx="2980944" cy="749808"/>
          </a:xfrm>
          <a:prstGeom prst="rect">
            <a:avLst/>
          </a:prstGeom>
        </p:spPr>
        <p:txBody>
          <a:bodyPr wrap="square"/>
          <a:lstStyle/>
          <a:p>
            <a:pPr algn="l">
              <a:buChar char="•"/>
              <a:buFont typeface="Arial"/>
            </a:pPr>
            <a:r>
              <a:rPr lang="th-TH" sz="1500" b="0">
                <a:solidFill>
                  <a:srgbClr val="CBD5E1"/>
                </a:solidFill>
                <a:latin typeface="Tahoma"/>
                <a:ea typeface="Tahoma"/>
              </a:rPr>
              <a:t>ซื้อบริษัทพร้อม IP/ทีม/ลูกค้า</a:t>
            </a:r>
          </a:p>
          <a:p>
            <a:pPr algn="l">
              <a:buChar char="•"/>
              <a:buFont typeface="Arial"/>
            </a:pPr>
            <a:r>
              <a:rPr lang="th-TH" sz="1500" b="0">
                <a:solidFill>
                  <a:srgbClr val="CBD5E1"/>
                </a:solidFill>
                <a:latin typeface="Tahoma"/>
                <a:ea typeface="Tahoma"/>
              </a:rPr>
              <a:t>หรือร่วมลงทุนเพื่อเร่งขาย</a:t>
            </a:r>
          </a:p>
          <a:p>
            <a:pPr algn="l">
              <a:buChar char="•"/>
              <a:buFont typeface="Arial"/>
            </a:pPr>
            <a:r>
              <a:rPr lang="th-TH" sz="1500" b="0">
                <a:solidFill>
                  <a:srgbClr val="CBD5E1"/>
                </a:solidFill>
                <a:latin typeface="Tahoma"/>
                <a:ea typeface="Tahoma"/>
              </a:rPr>
              <a:t>Upside อยู่ที่ SaaS + Implementation</a:t>
            </a:r>
          </a:p>
        </p:txBody>
      </p:sp>
      <p:sp>
        <p:nvSpPr>
          <p:cNvPr id="15" name="Box 15"/>
          <p:cNvSpPr/>
          <p:nvPr/>
        </p:nvSpPr>
        <p:spPr>
          <a:xfrm>
            <a:off x="685800" y="3337560"/>
            <a:ext cx="10881360" cy="14173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D4BF"/>
            </a:solidFill>
          </a:ln>
        </p:spPr>
      </p:sp>
      <p:sp>
        <p:nvSpPr>
          <p:cNvPr id="16" name="Text 16"/>
          <p:cNvSpPr txBox="1"/>
          <p:nvPr/>
        </p:nvSpPr>
        <p:spPr>
          <a:xfrm>
            <a:off x="886968" y="3502152"/>
            <a:ext cx="10479024" cy="320040"/>
          </a:xfrm>
          <a:prstGeom prst="rect">
            <a:avLst/>
          </a:prstGeom>
        </p:spPr>
        <p:txBody>
          <a:bodyPr wrap="square"/>
          <a:lstStyle/>
          <a:p>
            <a:pPr algn="l">
              <a:buNone/>
            </a:pPr>
            <a:r>
              <a:rPr lang="th-TH" sz="1800" b="1">
                <a:solidFill>
                  <a:srgbClr val="F8FAFC"/>
                </a:solidFill>
                <a:latin typeface="Tahoma"/>
                <a:ea typeface="Tahoma"/>
              </a:rPr>
              <a:t>Thesis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886968" y="3904487"/>
            <a:ext cx="10479024" cy="704088"/>
          </a:xfrm>
          <a:prstGeom prst="rect">
            <a:avLst/>
          </a:prstGeom>
        </p:spPr>
        <p:txBody>
          <a:bodyPr wrap="square"/>
          <a:lstStyle/>
          <a:p>
            <a:pPr algn="l">
              <a:buNone/>
            </a:pPr>
            <a:r>
              <a:rPr lang="th-TH" sz="1500" b="0">
                <a:solidFill>
                  <a:srgbClr val="CBD5E1"/>
                </a:solidFill>
                <a:latin typeface="Tahoma"/>
                <a:ea typeface="Tahoma"/>
              </a:rPr>
              <a:t>AlexiaSoft เป็นฐานที่ “สร้างมาแล้ว” สำหรับผู้ซื้อที่ต้องการเข้าสู่ตลาดซอฟต์แวร์ SME: มีผลิตภัณฑ์ มีทีมส่งมอบ มีผลงาน และมีช่องทางขยายด้วยบริการ implementation/customization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</p:spPr>
        <p:txBody>
          <a:bodyPr wrap="square"/>
          <a:lstStyle/>
          <a:p>
            <a:pPr algn="r">
              <a:buNone/>
            </a:pPr>
            <a:r>
              <a:rPr lang="th-TH" sz="800" b="0">
                <a:solidFill>
                  <a:srgbClr val="64748B"/>
                </a:solidFill>
                <a:latin typeface="Tahoma"/>
                <a:ea typeface="Tahoma"/>
              </a:rPr>
              <a:t>CONFIDENTIAL | AlexiaSoft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</p:sp>
      <p:sp>
        <p:nvSpPr>
          <p:cNvPr id="3" name="Box 3"/>
          <p:cNvSpPr/>
          <p:nvPr/>
        </p:nvSpPr>
        <p:spPr>
          <a:xfrm>
            <a:off x="320040" y="256032"/>
            <a:ext cx="1005840" cy="73152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</p:sp>
      <p:sp>
        <p:nvSpPr>
          <p:cNvPr id="4" name="Box 4"/>
          <p:cNvSpPr/>
          <p:nvPr/>
        </p:nvSpPr>
        <p:spPr>
          <a:xfrm>
            <a:off x="320040" y="384048"/>
            <a:ext cx="502920" cy="73152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594360" y="548640"/>
            <a:ext cx="10789920" cy="731520"/>
          </a:xfrm>
          <a:prstGeom prst="rect">
            <a:avLst/>
          </a:prstGeom>
        </p:spPr>
        <p:txBody>
          <a:bodyPr wrap="square"/>
          <a:lstStyle/>
          <a:p>
            <a:pPr algn="l">
              <a:buNone/>
            </a:pPr>
            <a:r>
              <a:rPr lang="th-TH" sz="3400" b="1">
                <a:solidFill>
                  <a:srgbClr val="F8FAFC"/>
                </a:solidFill>
                <a:latin typeface="Tahoma"/>
                <a:ea typeface="Tahoma"/>
              </a:rPr>
              <a:t>Pain: SME ยังติดระบบกระจัดกระจาย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731520" y="1874519"/>
            <a:ext cx="10789920" cy="4206240"/>
          </a:xfrm>
          <a:prstGeom prst="rect">
            <a:avLst/>
          </a:prstGeom>
        </p:spPr>
        <p:txBody>
          <a:bodyPr wrap="square"/>
          <a:lstStyle/>
          <a:p>
            <a:pPr algn="l">
              <a:buChar char="•"/>
              <a:buFont typeface="Arial"/>
            </a:pPr>
            <a:r>
              <a:rPr lang="th-TH" sz="2000" b="0">
                <a:solidFill>
                  <a:srgbClr val="F8FAFC"/>
                </a:solidFill>
                <a:latin typeface="Tahoma"/>
                <a:ea typeface="Tahoma"/>
              </a:rPr>
              <a:t>ร้านค้าและธุรกิจ SME ใช้ POS, Excel, บัญชี, สต็อก แยกกัน ทำให้ข้อมูลไม่เชื่อม</a:t>
            </a:r>
          </a:p>
          <a:p>
            <a:pPr algn="l">
              <a:buChar char="•"/>
              <a:buFont typeface="Arial"/>
            </a:pPr>
            <a:r>
              <a:rPr lang="th-TH" sz="2000" b="0">
                <a:solidFill>
                  <a:srgbClr val="F8FAFC"/>
                </a:solidFill>
                <a:latin typeface="Tahoma"/>
                <a:ea typeface="Tahoma"/>
              </a:rPr>
              <a:t>เจ้าของธุรกิจต้องการระบบเร็ว ใช้ง่าย ราคาจับต้องได้ แต่ยังปรับตามงานจริงได้</a:t>
            </a:r>
          </a:p>
          <a:p>
            <a:pPr algn="l">
              <a:buChar char="•"/>
              <a:buFont typeface="Arial"/>
            </a:pPr>
            <a:r>
              <a:rPr lang="th-TH" sz="2000" b="0">
                <a:solidFill>
                  <a:srgbClr val="F8FAFC"/>
                </a:solidFill>
                <a:latin typeface="Tahoma"/>
                <a:ea typeface="Tahoma"/>
              </a:rPr>
              <a:t>ERP ใหญ่แพงและช้า ส่วนระบบเล็กขาดบริการติดตั้ง/ปรับแต่ง</a:t>
            </a:r>
          </a:p>
          <a:p>
            <a:pPr algn="l">
              <a:buChar char="•"/>
              <a:buFont typeface="Arial"/>
            </a:pPr>
            <a:r>
              <a:rPr lang="th-TH" sz="2000" b="0">
                <a:solidFill>
                  <a:srgbClr val="F8FAFC"/>
                </a:solidFill>
                <a:latin typeface="Tahoma"/>
                <a:ea typeface="Tahoma"/>
              </a:rPr>
              <a:t>ช่องว่างตลาด: SaaS พร้อมใช้ + ทีมไทยที่ customize และ support ได้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</p:spPr>
        <p:txBody>
          <a:bodyPr wrap="square"/>
          <a:lstStyle/>
          <a:p>
            <a:pPr algn="r">
              <a:buNone/>
            </a:pPr>
            <a:r>
              <a:rPr lang="th-TH" sz="800" b="0">
                <a:solidFill>
                  <a:srgbClr val="64748B"/>
                </a:solidFill>
                <a:latin typeface="Tahoma"/>
                <a:ea typeface="Tahoma"/>
              </a:rPr>
              <a:t>CONFIDENTIAL | AlexiaSoft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</p:sp>
      <p:sp>
        <p:nvSpPr>
          <p:cNvPr id="3" name="Box 3"/>
          <p:cNvSpPr/>
          <p:nvPr/>
        </p:nvSpPr>
        <p:spPr>
          <a:xfrm>
            <a:off x="320040" y="256032"/>
            <a:ext cx="1005840" cy="73152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</p:sp>
      <p:sp>
        <p:nvSpPr>
          <p:cNvPr id="4" name="Box 4"/>
          <p:cNvSpPr/>
          <p:nvPr/>
        </p:nvSpPr>
        <p:spPr>
          <a:xfrm>
            <a:off x="320040" y="384048"/>
            <a:ext cx="502920" cy="73152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594360" y="548640"/>
            <a:ext cx="10789920" cy="731520"/>
          </a:xfrm>
          <a:prstGeom prst="rect">
            <a:avLst/>
          </a:prstGeom>
        </p:spPr>
        <p:txBody>
          <a:bodyPr wrap="square"/>
          <a:lstStyle/>
          <a:p>
            <a:pPr algn="l">
              <a:buNone/>
            </a:pPr>
            <a:r>
              <a:rPr lang="th-TH" sz="3400" b="1">
                <a:solidFill>
                  <a:srgbClr val="F8FAFC"/>
                </a:solidFill>
                <a:latin typeface="Tahoma"/>
                <a:ea typeface="Tahoma"/>
              </a:rPr>
              <a:t>Solution: Product + Service Flywheel</a:t>
            </a:r>
          </a:p>
        </p:txBody>
      </p:sp>
      <p:sp>
        <p:nvSpPr>
          <p:cNvPr id="6" name="Box 6"/>
          <p:cNvSpPr/>
          <p:nvPr/>
        </p:nvSpPr>
        <p:spPr>
          <a:xfrm>
            <a:off x="685800" y="1417320"/>
            <a:ext cx="3337560" cy="32918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D4BF"/>
            </a:solidFill>
          </a:ln>
        </p:spPr>
      </p:sp>
      <p:sp>
        <p:nvSpPr>
          <p:cNvPr id="7" name="Text 7"/>
          <p:cNvSpPr txBox="1"/>
          <p:nvPr/>
        </p:nvSpPr>
        <p:spPr>
          <a:xfrm>
            <a:off x="886968" y="1581912"/>
            <a:ext cx="2935224" cy="320040"/>
          </a:xfrm>
          <a:prstGeom prst="rect">
            <a:avLst/>
          </a:prstGeom>
        </p:spPr>
        <p:txBody>
          <a:bodyPr wrap="square"/>
          <a:lstStyle/>
          <a:p>
            <a:pPr algn="l">
              <a:buNone/>
            </a:pPr>
            <a:r>
              <a:rPr lang="th-TH" sz="1800" b="1">
                <a:solidFill>
                  <a:srgbClr val="F8FAFC"/>
                </a:solidFill>
                <a:latin typeface="Tahoma"/>
                <a:ea typeface="Tahoma"/>
              </a:rPr>
              <a:t>1. Product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886968" y="1984248"/>
            <a:ext cx="2935224" cy="2578608"/>
          </a:xfrm>
          <a:prstGeom prst="rect">
            <a:avLst/>
          </a:prstGeom>
        </p:spPr>
        <p:txBody>
          <a:bodyPr wrap="square"/>
          <a:lstStyle/>
          <a:p>
            <a:pPr algn="l">
              <a:buNone/>
            </a:pPr>
            <a:r>
              <a:rPr lang="th-TH" sz="1500" b="0">
                <a:solidFill>
                  <a:srgbClr val="CBD5E1"/>
                </a:solidFill>
                <a:latin typeface="Tahoma"/>
                <a:ea typeface="Tahoma"/>
              </a:rPr>
              <a:t>MintPOS และ MintERP เป็นแกนรายได้ recurring / license</a:t>
            </a:r>
          </a:p>
          <a:p>
            <a:pPr algn="l">
              <a:buNone/>
            </a:pPr>
            <a:r>
              <a:rPr lang="th-TH" sz="1500" b="0">
                <a:solidFill>
                  <a:srgbClr val="CBD5E1"/>
                </a:solidFill>
                <a:latin typeface="Tahoma"/>
                <a:ea typeface="Tahoma"/>
              </a:rPr>
              <a:t>ขายซ้ำได้ ติดตั้งเร็ว ลดการเริ่มจากศูนย์</a:t>
            </a:r>
          </a:p>
        </p:txBody>
      </p:sp>
      <p:sp>
        <p:nvSpPr>
          <p:cNvPr id="9" name="Box 9"/>
          <p:cNvSpPr/>
          <p:nvPr/>
        </p:nvSpPr>
        <p:spPr>
          <a:xfrm>
            <a:off x="4434840" y="1417320"/>
            <a:ext cx="3337560" cy="32918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8B5CF6"/>
            </a:solidFill>
          </a:ln>
        </p:spPr>
      </p:sp>
      <p:sp>
        <p:nvSpPr>
          <p:cNvPr id="10" name="Text 10"/>
          <p:cNvSpPr txBox="1"/>
          <p:nvPr/>
        </p:nvSpPr>
        <p:spPr>
          <a:xfrm>
            <a:off x="4636007" y="1581912"/>
            <a:ext cx="2935224" cy="320040"/>
          </a:xfrm>
          <a:prstGeom prst="rect">
            <a:avLst/>
          </a:prstGeom>
        </p:spPr>
        <p:txBody>
          <a:bodyPr wrap="square"/>
          <a:lstStyle/>
          <a:p>
            <a:pPr algn="l">
              <a:buNone/>
            </a:pPr>
            <a:r>
              <a:rPr lang="th-TH" sz="1800" b="1">
                <a:solidFill>
                  <a:srgbClr val="F8FAFC"/>
                </a:solidFill>
                <a:latin typeface="Tahoma"/>
                <a:ea typeface="Tahoma"/>
              </a:rPr>
              <a:t>2. Implementation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4636007" y="1984248"/>
            <a:ext cx="2935224" cy="2578608"/>
          </a:xfrm>
          <a:prstGeom prst="rect">
            <a:avLst/>
          </a:prstGeom>
        </p:spPr>
        <p:txBody>
          <a:bodyPr wrap="square"/>
          <a:lstStyle/>
          <a:p>
            <a:pPr algn="l">
              <a:buNone/>
            </a:pPr>
            <a:r>
              <a:rPr lang="th-TH" sz="1500" b="0">
                <a:solidFill>
                  <a:srgbClr val="CBD5E1"/>
                </a:solidFill>
                <a:latin typeface="Tahoma"/>
                <a:ea typeface="Tahoma"/>
              </a:rPr>
              <a:t>ทีมวิเคราะห์ ออกแบบ ติดตั้ง อบรม และ support</a:t>
            </a:r>
          </a:p>
          <a:p>
            <a:pPr algn="l">
              <a:buNone/>
            </a:pPr>
            <a:r>
              <a:rPr lang="th-TH" sz="1500" b="0">
                <a:solidFill>
                  <a:srgbClr val="CBD5E1"/>
                </a:solidFill>
                <a:latin typeface="Tahoma"/>
                <a:ea typeface="Tahoma"/>
              </a:rPr>
              <a:t>ทำให้ลูกค้า SME ใช้จริง ไม่ใช่แค่ซื้อซอฟต์แวร์</a:t>
            </a:r>
          </a:p>
        </p:txBody>
      </p:sp>
      <p:sp>
        <p:nvSpPr>
          <p:cNvPr id="12" name="Box 12"/>
          <p:cNvSpPr/>
          <p:nvPr/>
        </p:nvSpPr>
        <p:spPr>
          <a:xfrm>
            <a:off x="8183879" y="1417320"/>
            <a:ext cx="3337560" cy="32918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FBBF24"/>
            </a:solidFill>
          </a:ln>
        </p:spPr>
      </p:sp>
      <p:sp>
        <p:nvSpPr>
          <p:cNvPr id="13" name="Text 13"/>
          <p:cNvSpPr txBox="1"/>
          <p:nvPr/>
        </p:nvSpPr>
        <p:spPr>
          <a:xfrm>
            <a:off x="8385048" y="1581912"/>
            <a:ext cx="2935224" cy="320040"/>
          </a:xfrm>
          <a:prstGeom prst="rect">
            <a:avLst/>
          </a:prstGeom>
        </p:spPr>
        <p:txBody>
          <a:bodyPr wrap="square"/>
          <a:lstStyle/>
          <a:p>
            <a:pPr algn="l">
              <a:buNone/>
            </a:pPr>
            <a:r>
              <a:rPr lang="th-TH" sz="1800" b="1">
                <a:solidFill>
                  <a:srgbClr val="F8FAFC"/>
                </a:solidFill>
                <a:latin typeface="Tahoma"/>
                <a:ea typeface="Tahoma"/>
              </a:rPr>
              <a:t>3. Custom Upsell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8385048" y="1984248"/>
            <a:ext cx="2935224" cy="2578608"/>
          </a:xfrm>
          <a:prstGeom prst="rect">
            <a:avLst/>
          </a:prstGeom>
        </p:spPr>
        <p:txBody>
          <a:bodyPr wrap="square"/>
          <a:lstStyle/>
          <a:p>
            <a:pPr algn="l">
              <a:buNone/>
            </a:pPr>
            <a:r>
              <a:rPr lang="th-TH" sz="1500" b="0">
                <a:solidFill>
                  <a:srgbClr val="CBD5E1"/>
                </a:solidFill>
                <a:latin typeface="Tahoma"/>
                <a:ea typeface="Tahoma"/>
              </a:rPr>
              <a:t>เชื่อม API, migration, รายงาน, workflow เฉพาะธุรกิจ</a:t>
            </a:r>
          </a:p>
          <a:p>
            <a:pPr algn="l">
              <a:buNone/>
            </a:pPr>
            <a:r>
              <a:rPr lang="th-TH" sz="1500" b="0">
                <a:solidFill>
                  <a:srgbClr val="CBD5E1"/>
                </a:solidFill>
                <a:latin typeface="Tahoma"/>
                <a:ea typeface="Tahoma"/>
              </a:rPr>
              <a:t>เพิ่มมูลค่าต่อบัญชีและ retention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</p:spPr>
        <p:txBody>
          <a:bodyPr wrap="square"/>
          <a:lstStyle/>
          <a:p>
            <a:pPr algn="r">
              <a:buNone/>
            </a:pPr>
            <a:r>
              <a:rPr lang="th-TH" sz="800" b="0">
                <a:solidFill>
                  <a:srgbClr val="64748B"/>
                </a:solidFill>
                <a:latin typeface="Tahoma"/>
                <a:ea typeface="Tahoma"/>
              </a:rPr>
              <a:t>CONFIDENTIAL | AlexiaSoft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</p:sp>
      <p:sp>
        <p:nvSpPr>
          <p:cNvPr id="3" name="Box 3"/>
          <p:cNvSpPr/>
          <p:nvPr/>
        </p:nvSpPr>
        <p:spPr>
          <a:xfrm>
            <a:off x="320040" y="256032"/>
            <a:ext cx="1005840" cy="73152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</p:sp>
      <p:sp>
        <p:nvSpPr>
          <p:cNvPr id="4" name="Box 4"/>
          <p:cNvSpPr/>
          <p:nvPr/>
        </p:nvSpPr>
        <p:spPr>
          <a:xfrm>
            <a:off x="320040" y="384048"/>
            <a:ext cx="502920" cy="73152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594360" y="548640"/>
            <a:ext cx="10789920" cy="731520"/>
          </a:xfrm>
          <a:prstGeom prst="rect">
            <a:avLst/>
          </a:prstGeom>
        </p:spPr>
        <p:txBody>
          <a:bodyPr wrap="square"/>
          <a:lstStyle/>
          <a:p>
            <a:pPr algn="l">
              <a:buNone/>
            </a:pPr>
            <a:r>
              <a:rPr lang="th-TH" sz="3400" b="1">
                <a:solidFill>
                  <a:srgbClr val="F8FAFC"/>
                </a:solidFill>
                <a:latin typeface="Tahoma"/>
                <a:ea typeface="Tahoma"/>
              </a:rPr>
              <a:t>Product: MintPOS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612648" y="1234440"/>
            <a:ext cx="10515600" cy="502920"/>
          </a:xfrm>
          <a:prstGeom prst="rect">
            <a:avLst/>
          </a:prstGeom>
        </p:spPr>
        <p:txBody>
          <a:bodyPr wrap="square"/>
          <a:lstStyle/>
          <a:p>
            <a:pPr algn="l">
              <a:buNone/>
            </a:pPr>
            <a:r>
              <a:rPr lang="th-TH" sz="1800" b="0">
                <a:solidFill>
                  <a:srgbClr val="CBD5E1"/>
                </a:solidFill>
                <a:latin typeface="Tahoma"/>
                <a:ea typeface="Tahoma"/>
              </a:rPr>
              <a:t>Cloud POS สำหรับร้านค้าปลีก ร้านอาหาร สต็อก และรายงานยอดขาย</a:t>
            </a:r>
          </a:p>
        </p:txBody>
      </p:sp>
      <p:pic>
        <p:nvPicPr>
          <p:cNvPr id="7" name="mintpos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6446520" y="1828800"/>
            <a:ext cx="4937760" cy="3246120"/>
          </a:xfrm>
          <a:prstGeom prst="rect">
            <a:avLst/>
          </a:prstGeom>
        </p:spPr>
      </p:pic>
      <p:sp>
        <p:nvSpPr>
          <p:cNvPr id="8" name="Text 8"/>
          <p:cNvSpPr txBox="1"/>
          <p:nvPr/>
        </p:nvSpPr>
        <p:spPr>
          <a:xfrm>
            <a:off x="731520" y="1874519"/>
            <a:ext cx="5486400" cy="4206240"/>
          </a:xfrm>
          <a:prstGeom prst="rect">
            <a:avLst/>
          </a:prstGeom>
        </p:spPr>
        <p:txBody>
          <a:bodyPr wrap="square"/>
          <a:lstStyle/>
          <a:p>
            <a:pPr algn="l">
              <a:buChar char="•"/>
              <a:buFont typeface="Arial"/>
            </a:pPr>
            <a:r>
              <a:rPr lang="th-TH" sz="2000" b="0">
                <a:solidFill>
                  <a:srgbClr val="F8FAFC"/>
                </a:solidFill>
                <a:latin typeface="Tahoma"/>
                <a:ea typeface="Tahoma"/>
              </a:rPr>
              <a:t>จัดการขายและ inventory</a:t>
            </a:r>
          </a:p>
          <a:p>
            <a:pPr algn="l">
              <a:buChar char="•"/>
              <a:buFont typeface="Arial"/>
            </a:pPr>
            <a:r>
              <a:rPr lang="th-TH" sz="2000" b="0">
                <a:solidFill>
                  <a:srgbClr val="F8FAFC"/>
                </a:solidFill>
                <a:latin typeface="Tahoma"/>
                <a:ea typeface="Tahoma"/>
              </a:rPr>
              <a:t>รายงานประจำวันสำหรับเจ้าของธุรกิจ</a:t>
            </a:r>
          </a:p>
          <a:p>
            <a:pPr algn="l">
              <a:buChar char="•"/>
              <a:buFont typeface="Arial"/>
            </a:pPr>
            <a:r>
              <a:rPr lang="th-TH" sz="2000" b="0">
                <a:solidFill>
                  <a:srgbClr val="F8FAFC"/>
                </a:solidFill>
                <a:latin typeface="Tahoma"/>
                <a:ea typeface="Tahoma"/>
              </a:rPr>
              <a:t>ใช้งานได้หลายอุปกรณ์</a:t>
            </a:r>
          </a:p>
          <a:p>
            <a:pPr algn="l">
              <a:buChar char="•"/>
              <a:buFont typeface="Arial"/>
            </a:pPr>
            <a:r>
              <a:rPr lang="th-TH" sz="2000" b="0">
                <a:solidFill>
                  <a:srgbClr val="F8FAFC"/>
                </a:solidFill>
                <a:latin typeface="Tahoma"/>
                <a:ea typeface="Tahoma"/>
              </a:rPr>
              <a:t>URL: mintpos.alexiasoft.co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</p:spPr>
        <p:txBody>
          <a:bodyPr wrap="square"/>
          <a:lstStyle/>
          <a:p>
            <a:pPr algn="r">
              <a:buNone/>
            </a:pPr>
            <a:r>
              <a:rPr lang="th-TH" sz="800" b="0">
                <a:solidFill>
                  <a:srgbClr val="64748B"/>
                </a:solidFill>
                <a:latin typeface="Tahoma"/>
                <a:ea typeface="Tahoma"/>
              </a:rPr>
              <a:t>CONFIDENTIAL | AlexiaSoft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</p:sp>
      <p:sp>
        <p:nvSpPr>
          <p:cNvPr id="3" name="Box 3"/>
          <p:cNvSpPr/>
          <p:nvPr/>
        </p:nvSpPr>
        <p:spPr>
          <a:xfrm>
            <a:off x="320040" y="256032"/>
            <a:ext cx="1005840" cy="73152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</p:sp>
      <p:sp>
        <p:nvSpPr>
          <p:cNvPr id="4" name="Box 4"/>
          <p:cNvSpPr/>
          <p:nvPr/>
        </p:nvSpPr>
        <p:spPr>
          <a:xfrm>
            <a:off x="320040" y="384048"/>
            <a:ext cx="502920" cy="73152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594360" y="548640"/>
            <a:ext cx="10789920" cy="731520"/>
          </a:xfrm>
          <a:prstGeom prst="rect">
            <a:avLst/>
          </a:prstGeom>
        </p:spPr>
        <p:txBody>
          <a:bodyPr wrap="square"/>
          <a:lstStyle/>
          <a:p>
            <a:pPr algn="l">
              <a:buNone/>
            </a:pPr>
            <a:r>
              <a:rPr lang="th-TH" sz="3400" b="1">
                <a:solidFill>
                  <a:srgbClr val="F8FAFC"/>
                </a:solidFill>
                <a:latin typeface="Tahoma"/>
                <a:ea typeface="Tahoma"/>
              </a:rPr>
              <a:t>Product: MintERP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612648" y="1234440"/>
            <a:ext cx="10515600" cy="502920"/>
          </a:xfrm>
          <a:prstGeom prst="rect">
            <a:avLst/>
          </a:prstGeom>
        </p:spPr>
        <p:txBody>
          <a:bodyPr wrap="square"/>
          <a:lstStyle/>
          <a:p>
            <a:pPr algn="l">
              <a:buNone/>
            </a:pPr>
            <a:r>
              <a:rPr lang="th-TH" sz="1800" b="0">
                <a:solidFill>
                  <a:srgbClr val="CBD5E1"/>
                </a:solidFill>
                <a:latin typeface="Tahoma"/>
                <a:ea typeface="Tahoma"/>
              </a:rPr>
              <a:t>ERP เชื่อมจัดซื้อ ฝ่ายขาย คลัง บัญชี และรายงานผู้บริหาร</a:t>
            </a:r>
          </a:p>
        </p:txBody>
      </p:sp>
      <p:pic>
        <p:nvPicPr>
          <p:cNvPr id="7" name="minterp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6446520" y="1828800"/>
            <a:ext cx="4937760" cy="3246120"/>
          </a:xfrm>
          <a:prstGeom prst="rect">
            <a:avLst/>
          </a:prstGeom>
        </p:spPr>
      </p:pic>
      <p:sp>
        <p:nvSpPr>
          <p:cNvPr id="8" name="Text 8"/>
          <p:cNvSpPr txBox="1"/>
          <p:nvPr/>
        </p:nvSpPr>
        <p:spPr>
          <a:xfrm>
            <a:off x="731520" y="1874519"/>
            <a:ext cx="5486400" cy="4206240"/>
          </a:xfrm>
          <a:prstGeom prst="rect">
            <a:avLst/>
          </a:prstGeom>
        </p:spPr>
        <p:txBody>
          <a:bodyPr wrap="square"/>
          <a:lstStyle/>
          <a:p>
            <a:pPr algn="l">
              <a:buChar char="•"/>
              <a:buFont typeface="Arial"/>
            </a:pPr>
            <a:r>
              <a:rPr lang="th-TH" sz="2000" b="0">
                <a:solidFill>
                  <a:srgbClr val="F8FAFC"/>
                </a:solidFill>
                <a:latin typeface="Tahoma"/>
                <a:ea typeface="Tahoma"/>
              </a:rPr>
              <a:t>Sales / Warehouse / Accounting flow</a:t>
            </a:r>
          </a:p>
          <a:p>
            <a:pPr algn="l">
              <a:buChar char="•"/>
              <a:buFont typeface="Arial"/>
            </a:pPr>
            <a:r>
              <a:rPr lang="th-TH" sz="2000" b="0">
                <a:solidFill>
                  <a:srgbClr val="F8FAFC"/>
                </a:solidFill>
                <a:latin typeface="Tahoma"/>
                <a:ea typeface="Tahoma"/>
              </a:rPr>
              <a:t>Management dashboard</a:t>
            </a:r>
          </a:p>
          <a:p>
            <a:pPr algn="l">
              <a:buChar char="•"/>
              <a:buFont typeface="Arial"/>
            </a:pPr>
            <a:r>
              <a:rPr lang="th-TH" sz="2000" b="0">
                <a:solidFill>
                  <a:srgbClr val="F8FAFC"/>
                </a:solidFill>
                <a:latin typeface="Tahoma"/>
                <a:ea typeface="Tahoma"/>
              </a:rPr>
              <a:t>ปรับให้เข้ากับกระบวนการธุรกิจได้</a:t>
            </a:r>
          </a:p>
          <a:p>
            <a:pPr algn="l">
              <a:buChar char="•"/>
              <a:buFont typeface="Arial"/>
            </a:pPr>
            <a:r>
              <a:rPr lang="th-TH" sz="2000" b="0">
                <a:solidFill>
                  <a:srgbClr val="F8FAFC"/>
                </a:solidFill>
                <a:latin typeface="Tahoma"/>
                <a:ea typeface="Tahoma"/>
              </a:rPr>
              <a:t>URL: minterp.alexiasoft.co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</p:spPr>
        <p:txBody>
          <a:bodyPr wrap="square"/>
          <a:lstStyle/>
          <a:p>
            <a:pPr algn="r">
              <a:buNone/>
            </a:pPr>
            <a:r>
              <a:rPr lang="th-TH" sz="800" b="0">
                <a:solidFill>
                  <a:srgbClr val="64748B"/>
                </a:solidFill>
                <a:latin typeface="Tahoma"/>
                <a:ea typeface="Tahoma"/>
              </a:rPr>
              <a:t>CONFIDENTIAL | AlexiaSoft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</p:sp>
      <p:sp>
        <p:nvSpPr>
          <p:cNvPr id="3" name="Box 3"/>
          <p:cNvSpPr/>
          <p:nvPr/>
        </p:nvSpPr>
        <p:spPr>
          <a:xfrm>
            <a:off x="320040" y="256032"/>
            <a:ext cx="1005840" cy="73152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</p:sp>
      <p:sp>
        <p:nvSpPr>
          <p:cNvPr id="4" name="Box 4"/>
          <p:cNvSpPr/>
          <p:nvPr/>
        </p:nvSpPr>
        <p:spPr>
          <a:xfrm>
            <a:off x="320040" y="384048"/>
            <a:ext cx="502920" cy="73152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594360" y="548640"/>
            <a:ext cx="10789920" cy="731520"/>
          </a:xfrm>
          <a:prstGeom prst="rect">
            <a:avLst/>
          </a:prstGeom>
        </p:spPr>
        <p:txBody>
          <a:bodyPr wrap="square"/>
          <a:lstStyle/>
          <a:p>
            <a:pPr algn="l">
              <a:buNone/>
            </a:pPr>
            <a:r>
              <a:rPr lang="th-TH" sz="3400" b="1">
                <a:solidFill>
                  <a:srgbClr val="F8FAFC"/>
                </a:solidFill>
                <a:latin typeface="Tahoma"/>
                <a:ea typeface="Tahoma"/>
              </a:rPr>
              <a:t>Traction ที่ตรวจสอบได้จากสินทรัพย์ปัจจุบัน</a:t>
            </a:r>
          </a:p>
        </p:txBody>
      </p:sp>
      <p:sp>
        <p:nvSpPr>
          <p:cNvPr id="6" name="Box 6"/>
          <p:cNvSpPr/>
          <p:nvPr/>
        </p:nvSpPr>
        <p:spPr>
          <a:xfrm>
            <a:off x="685800" y="1325880"/>
            <a:ext cx="2514600" cy="13258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D4BF"/>
            </a:solidFill>
          </a:ln>
        </p:spPr>
      </p:sp>
      <p:sp>
        <p:nvSpPr>
          <p:cNvPr id="7" name="Text 7"/>
          <p:cNvSpPr txBox="1"/>
          <p:nvPr/>
        </p:nvSpPr>
        <p:spPr>
          <a:xfrm>
            <a:off x="886968" y="1490472"/>
            <a:ext cx="2112264" cy="320040"/>
          </a:xfrm>
          <a:prstGeom prst="rect">
            <a:avLst/>
          </a:prstGeom>
        </p:spPr>
        <p:txBody>
          <a:bodyPr wrap="square"/>
          <a:lstStyle/>
          <a:p>
            <a:pPr algn="l">
              <a:buNone/>
            </a:pPr>
            <a:r>
              <a:rPr lang="th-TH" sz="1800" b="1">
                <a:solidFill>
                  <a:srgbClr val="F8FAFC"/>
                </a:solidFill>
                <a:latin typeface="Tahoma"/>
                <a:ea typeface="Tahoma"/>
              </a:rPr>
              <a:t>6+ ปี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886968" y="1892807"/>
            <a:ext cx="2112264" cy="612647"/>
          </a:xfrm>
          <a:prstGeom prst="rect">
            <a:avLst/>
          </a:prstGeom>
        </p:spPr>
        <p:txBody>
          <a:bodyPr wrap="square"/>
          <a:lstStyle/>
          <a:p>
            <a:pPr algn="l">
              <a:buNone/>
            </a:pPr>
            <a:r>
              <a:rPr lang="th-TH" sz="1500" b="0">
                <a:solidFill>
                  <a:srgbClr val="CBD5E1"/>
                </a:solidFill>
                <a:latin typeface="Tahoma"/>
                <a:ea typeface="Tahoma"/>
              </a:rPr>
              <a:t>ประสบการณ์ส่งมอบระบบธุรกิจ</a:t>
            </a:r>
          </a:p>
        </p:txBody>
      </p:sp>
      <p:sp>
        <p:nvSpPr>
          <p:cNvPr id="9" name="Box 9"/>
          <p:cNvSpPr/>
          <p:nvPr/>
        </p:nvSpPr>
        <p:spPr>
          <a:xfrm>
            <a:off x="3474720" y="1325880"/>
            <a:ext cx="2514600" cy="13258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D4BF"/>
            </a:solidFill>
          </a:ln>
        </p:spPr>
      </p:sp>
      <p:sp>
        <p:nvSpPr>
          <p:cNvPr id="10" name="Text 10"/>
          <p:cNvSpPr txBox="1"/>
          <p:nvPr/>
        </p:nvSpPr>
        <p:spPr>
          <a:xfrm>
            <a:off x="3675887" y="1490472"/>
            <a:ext cx="2112264" cy="320040"/>
          </a:xfrm>
          <a:prstGeom prst="rect">
            <a:avLst/>
          </a:prstGeom>
        </p:spPr>
        <p:txBody>
          <a:bodyPr wrap="square"/>
          <a:lstStyle/>
          <a:p>
            <a:pPr algn="l">
              <a:buNone/>
            </a:pPr>
            <a:r>
              <a:rPr lang="th-TH" sz="1800" b="1">
                <a:solidFill>
                  <a:srgbClr val="F8FAFC"/>
                </a:solidFill>
                <a:latin typeface="Tahoma"/>
                <a:ea typeface="Tahoma"/>
              </a:rPr>
              <a:t>20+ โปรเจกต์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3675887" y="1892807"/>
            <a:ext cx="2112264" cy="612647"/>
          </a:xfrm>
          <a:prstGeom prst="rect">
            <a:avLst/>
          </a:prstGeom>
        </p:spPr>
        <p:txBody>
          <a:bodyPr wrap="square"/>
          <a:lstStyle/>
          <a:p>
            <a:pPr algn="l">
              <a:buNone/>
            </a:pPr>
            <a:r>
              <a:rPr lang="th-TH" sz="1500" b="0">
                <a:solidFill>
                  <a:srgbClr val="CBD5E1"/>
                </a:solidFill>
                <a:latin typeface="Tahoma"/>
                <a:ea typeface="Tahoma"/>
              </a:rPr>
              <a:t>ERP, POS, Logistic, Manufacturing, CRM, HRM ฯลฯ</a:t>
            </a:r>
          </a:p>
        </p:txBody>
      </p:sp>
      <p:sp>
        <p:nvSpPr>
          <p:cNvPr id="12" name="Box 12"/>
          <p:cNvSpPr/>
          <p:nvPr/>
        </p:nvSpPr>
        <p:spPr>
          <a:xfrm>
            <a:off x="6263640" y="1325880"/>
            <a:ext cx="2514600" cy="13258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D4BF"/>
            </a:solidFill>
          </a:ln>
        </p:spPr>
      </p:sp>
      <p:sp>
        <p:nvSpPr>
          <p:cNvPr id="13" name="Text 13"/>
          <p:cNvSpPr txBox="1"/>
          <p:nvPr/>
        </p:nvSpPr>
        <p:spPr>
          <a:xfrm>
            <a:off x="6464807" y="1490472"/>
            <a:ext cx="2112264" cy="320040"/>
          </a:xfrm>
          <a:prstGeom prst="rect">
            <a:avLst/>
          </a:prstGeom>
        </p:spPr>
        <p:txBody>
          <a:bodyPr wrap="square"/>
          <a:lstStyle/>
          <a:p>
            <a:pPr algn="l">
              <a:buNone/>
            </a:pPr>
            <a:r>
              <a:rPr lang="th-TH" sz="1800" b="1">
                <a:solidFill>
                  <a:srgbClr val="F8FAFC"/>
                </a:solidFill>
                <a:latin typeface="Tahoma"/>
                <a:ea typeface="Tahoma"/>
              </a:rPr>
              <a:t>9 โลโก้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6464807" y="1892807"/>
            <a:ext cx="2112264" cy="612647"/>
          </a:xfrm>
          <a:prstGeom prst="rect">
            <a:avLst/>
          </a:prstGeom>
        </p:spPr>
        <p:txBody>
          <a:bodyPr wrap="square"/>
          <a:lstStyle/>
          <a:p>
            <a:pPr algn="l">
              <a:buNone/>
            </a:pPr>
            <a:r>
              <a:rPr lang="th-TH" sz="1500" b="0">
                <a:solidFill>
                  <a:srgbClr val="CBD5E1"/>
                </a:solidFill>
                <a:latin typeface="Tahoma"/>
                <a:ea typeface="Tahoma"/>
              </a:rPr>
              <a:t>Trusted-by clients บนเว็บไซต์</a:t>
            </a:r>
          </a:p>
        </p:txBody>
      </p:sp>
      <p:sp>
        <p:nvSpPr>
          <p:cNvPr id="15" name="Box 15"/>
          <p:cNvSpPr/>
          <p:nvPr/>
        </p:nvSpPr>
        <p:spPr>
          <a:xfrm>
            <a:off x="9052560" y="1325880"/>
            <a:ext cx="2514600" cy="13258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D4BF"/>
            </a:solidFill>
          </a:ln>
        </p:spPr>
      </p:sp>
      <p:sp>
        <p:nvSpPr>
          <p:cNvPr id="16" name="Text 16"/>
          <p:cNvSpPr txBox="1"/>
          <p:nvPr/>
        </p:nvSpPr>
        <p:spPr>
          <a:xfrm>
            <a:off x="9253728" y="1490472"/>
            <a:ext cx="2112264" cy="320040"/>
          </a:xfrm>
          <a:prstGeom prst="rect">
            <a:avLst/>
          </a:prstGeom>
        </p:spPr>
        <p:txBody>
          <a:bodyPr wrap="square"/>
          <a:lstStyle/>
          <a:p>
            <a:pPr algn="l">
              <a:buNone/>
            </a:pPr>
            <a:r>
              <a:rPr lang="th-TH" sz="1800" b="1">
                <a:solidFill>
                  <a:srgbClr val="F8FAFC"/>
                </a:solidFill>
                <a:latin typeface="Tahoma"/>
                <a:ea typeface="Tahoma"/>
              </a:rPr>
              <a:t>2 Products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9253728" y="1892807"/>
            <a:ext cx="2112264" cy="612647"/>
          </a:xfrm>
          <a:prstGeom prst="rect">
            <a:avLst/>
          </a:prstGeom>
        </p:spPr>
        <p:txBody>
          <a:bodyPr wrap="square"/>
          <a:lstStyle/>
          <a:p>
            <a:pPr algn="l">
              <a:buNone/>
            </a:pPr>
            <a:r>
              <a:rPr lang="th-TH" sz="1500" b="0">
                <a:solidFill>
                  <a:srgbClr val="CBD5E1"/>
                </a:solidFill>
                <a:latin typeface="Tahoma"/>
                <a:ea typeface="Tahoma"/>
              </a:rPr>
              <a:t>MintPOS และ MintERP พร้อมนำเสนอ</a:t>
            </a:r>
          </a:p>
        </p:txBody>
      </p:sp>
      <p:sp>
        <p:nvSpPr>
          <p:cNvPr id="18" name="Box 18"/>
          <p:cNvSpPr/>
          <p:nvPr/>
        </p:nvSpPr>
        <p:spPr>
          <a:xfrm>
            <a:off x="685800" y="3154680"/>
            <a:ext cx="10881360" cy="1371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8B5CF6"/>
            </a:solidFill>
          </a:ln>
        </p:spPr>
      </p:sp>
      <p:sp>
        <p:nvSpPr>
          <p:cNvPr id="19" name="Text 19"/>
          <p:cNvSpPr txBox="1"/>
          <p:nvPr/>
        </p:nvSpPr>
        <p:spPr>
          <a:xfrm>
            <a:off x="886968" y="3319272"/>
            <a:ext cx="10479024" cy="320040"/>
          </a:xfrm>
          <a:prstGeom prst="rect">
            <a:avLst/>
          </a:prstGeom>
        </p:spPr>
        <p:txBody>
          <a:bodyPr wrap="square"/>
          <a:lstStyle/>
          <a:p>
            <a:pPr algn="l">
              <a:buNone/>
            </a:pPr>
            <a:r>
              <a:rPr lang="th-TH" sz="1800" b="1">
                <a:solidFill>
                  <a:srgbClr val="F8FAFC"/>
                </a:solidFill>
                <a:latin typeface="Tahoma"/>
                <a:ea typeface="Tahoma"/>
              </a:rPr>
              <a:t>ข้อเสนอให้นักลงทุน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886968" y="3721608"/>
            <a:ext cx="10479024" cy="658368"/>
          </a:xfrm>
          <a:prstGeom prst="rect">
            <a:avLst/>
          </a:prstGeom>
        </p:spPr>
        <p:txBody>
          <a:bodyPr wrap="square"/>
          <a:lstStyle/>
          <a:p>
            <a:pPr algn="l">
              <a:buNone/>
            </a:pPr>
            <a:r>
              <a:rPr lang="th-TH" sz="1500" b="0">
                <a:solidFill>
                  <a:srgbClr val="CBD5E1"/>
                </a:solidFill>
                <a:latin typeface="Tahoma"/>
                <a:ea typeface="Tahoma"/>
              </a:rPr>
              <a:t>จุดแข็งไม่ใช่ไอเดียลอย ๆ แต่เป็นสินทรัพย์ที่มีอยู่แล้ว: เว็บไซต์, product demo, portfolio, process implementation และทีมบริการหลังบ้าน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</p:spPr>
        <p:txBody>
          <a:bodyPr wrap="square"/>
          <a:lstStyle/>
          <a:p>
            <a:pPr algn="r">
              <a:buNone/>
            </a:pPr>
            <a:r>
              <a:rPr lang="th-TH" sz="800" b="0">
                <a:solidFill>
                  <a:srgbClr val="64748B"/>
                </a:solidFill>
                <a:latin typeface="Tahoma"/>
                <a:ea typeface="Tahoma"/>
              </a:rPr>
              <a:t>CONFIDENTIAL | AlexiaSoft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</p:sp>
      <p:sp>
        <p:nvSpPr>
          <p:cNvPr id="3" name="Box 3"/>
          <p:cNvSpPr/>
          <p:nvPr/>
        </p:nvSpPr>
        <p:spPr>
          <a:xfrm>
            <a:off x="320040" y="256032"/>
            <a:ext cx="1005840" cy="73152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</p:sp>
      <p:sp>
        <p:nvSpPr>
          <p:cNvPr id="4" name="Box 4"/>
          <p:cNvSpPr/>
          <p:nvPr/>
        </p:nvSpPr>
        <p:spPr>
          <a:xfrm>
            <a:off x="320040" y="384048"/>
            <a:ext cx="502920" cy="73152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594360" y="548640"/>
            <a:ext cx="10789920" cy="731520"/>
          </a:xfrm>
          <a:prstGeom prst="rect">
            <a:avLst/>
          </a:prstGeom>
        </p:spPr>
        <p:txBody>
          <a:bodyPr wrap="square"/>
          <a:lstStyle/>
          <a:p>
            <a:pPr algn="l">
              <a:buNone/>
            </a:pPr>
            <a:r>
              <a:rPr lang="th-TH" sz="3400" b="1">
                <a:solidFill>
                  <a:srgbClr val="F8FAFC"/>
                </a:solidFill>
                <a:latin typeface="Tahoma"/>
                <a:ea typeface="Tahoma"/>
              </a:rPr>
              <a:t>Business Model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731520" y="1874519"/>
            <a:ext cx="10789920" cy="4206240"/>
          </a:xfrm>
          <a:prstGeom prst="rect">
            <a:avLst/>
          </a:prstGeom>
        </p:spPr>
        <p:txBody>
          <a:bodyPr wrap="square"/>
          <a:lstStyle/>
          <a:p>
            <a:pPr algn="l">
              <a:buChar char="•"/>
              <a:buFont typeface="Arial"/>
            </a:pPr>
            <a:r>
              <a:rPr lang="th-TH" sz="2000" b="0">
                <a:solidFill>
                  <a:srgbClr val="F8FAFC"/>
                </a:solidFill>
                <a:latin typeface="Tahoma"/>
                <a:ea typeface="Tahoma"/>
              </a:rPr>
              <a:t>SaaS / Subscription: ค่ารายเดือนหรือรายปีของ MintPOS และ MintERP</a:t>
            </a:r>
          </a:p>
          <a:p>
            <a:pPr algn="l">
              <a:buChar char="•"/>
              <a:buFont typeface="Arial"/>
            </a:pPr>
            <a:r>
              <a:rPr lang="th-TH" sz="2000" b="0">
                <a:solidFill>
                  <a:srgbClr val="F8FAFC"/>
                </a:solidFill>
                <a:latin typeface="Tahoma"/>
                <a:ea typeface="Tahoma"/>
              </a:rPr>
              <a:t>Setup &amp; Implementation: ค่าวางระบบ นำเข้าข้อมูล อบรม และ go-live</a:t>
            </a:r>
          </a:p>
          <a:p>
            <a:pPr algn="l">
              <a:buChar char="•"/>
              <a:buFont typeface="Arial"/>
            </a:pPr>
            <a:r>
              <a:rPr lang="th-TH" sz="2000" b="0">
                <a:solidFill>
                  <a:srgbClr val="F8FAFC"/>
                </a:solidFill>
                <a:latin typeface="Tahoma"/>
                <a:ea typeface="Tahoma"/>
              </a:rPr>
              <a:t>Customization: ปรับ workflow, report, integration ตามธุรกิจ</a:t>
            </a:r>
          </a:p>
          <a:p>
            <a:pPr algn="l">
              <a:buChar char="•"/>
              <a:buFont typeface="Arial"/>
            </a:pPr>
            <a:r>
              <a:rPr lang="th-TH" sz="2000" b="0">
                <a:solidFill>
                  <a:srgbClr val="F8FAFC"/>
                </a:solidFill>
                <a:latin typeface="Tahoma"/>
                <a:ea typeface="Tahoma"/>
              </a:rPr>
              <a:t>Support &amp; Maintenance: แพ็กเกจดูแลระบบและ SLA</a:t>
            </a:r>
          </a:p>
          <a:p>
            <a:pPr algn="l">
              <a:buChar char="•"/>
              <a:buFont typeface="Arial"/>
            </a:pPr>
            <a:r>
              <a:rPr lang="th-TH" sz="2000" b="0">
                <a:solidFill>
                  <a:srgbClr val="F8FAFC"/>
                </a:solidFill>
                <a:latin typeface="Tahoma"/>
                <a:ea typeface="Tahoma"/>
              </a:rPr>
              <a:t>Cross-sell: POS → ERP / ERP → integration / ลูกค้าโปรเจกต์ → product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</p:spPr>
        <p:txBody>
          <a:bodyPr wrap="square"/>
          <a:lstStyle/>
          <a:p>
            <a:pPr algn="r">
              <a:buNone/>
            </a:pPr>
            <a:r>
              <a:rPr lang="th-TH" sz="800" b="0">
                <a:solidFill>
                  <a:srgbClr val="64748B"/>
                </a:solidFill>
                <a:latin typeface="Tahoma"/>
                <a:ea typeface="Tahoma"/>
              </a:rPr>
              <a:t>CONFIDENTIAL | AlexiaSoft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</p:sp>
      <p:sp>
        <p:nvSpPr>
          <p:cNvPr id="3" name="Box 3"/>
          <p:cNvSpPr/>
          <p:nvPr/>
        </p:nvSpPr>
        <p:spPr>
          <a:xfrm>
            <a:off x="320040" y="256032"/>
            <a:ext cx="1005840" cy="73152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</p:sp>
      <p:sp>
        <p:nvSpPr>
          <p:cNvPr id="4" name="Box 4"/>
          <p:cNvSpPr/>
          <p:nvPr/>
        </p:nvSpPr>
        <p:spPr>
          <a:xfrm>
            <a:off x="320040" y="384048"/>
            <a:ext cx="502920" cy="73152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594360" y="548640"/>
            <a:ext cx="10789920" cy="731520"/>
          </a:xfrm>
          <a:prstGeom prst="rect">
            <a:avLst/>
          </a:prstGeom>
        </p:spPr>
        <p:txBody>
          <a:bodyPr wrap="square"/>
          <a:lstStyle/>
          <a:p>
            <a:pPr algn="l">
              <a:buNone/>
            </a:pPr>
            <a:r>
              <a:rPr lang="th-TH" sz="3400" b="1">
                <a:solidFill>
                  <a:srgbClr val="F8FAFC"/>
                </a:solidFill>
                <a:latin typeface="Tahoma"/>
                <a:ea typeface="Tahoma"/>
              </a:rPr>
              <a:t>Market Entry: เริ่มจากตลาดที่เจ็บจริง</a:t>
            </a:r>
          </a:p>
        </p:txBody>
      </p:sp>
      <p:sp>
        <p:nvSpPr>
          <p:cNvPr id="6" name="Box 6"/>
          <p:cNvSpPr/>
          <p:nvPr/>
        </p:nvSpPr>
        <p:spPr>
          <a:xfrm>
            <a:off x="685800" y="1325880"/>
            <a:ext cx="3383280" cy="34747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D4BF"/>
            </a:solidFill>
          </a:ln>
        </p:spPr>
      </p:sp>
      <p:sp>
        <p:nvSpPr>
          <p:cNvPr id="7" name="Text 7"/>
          <p:cNvSpPr txBox="1"/>
          <p:nvPr/>
        </p:nvSpPr>
        <p:spPr>
          <a:xfrm>
            <a:off x="886968" y="1490472"/>
            <a:ext cx="2980944" cy="320040"/>
          </a:xfrm>
          <a:prstGeom prst="rect">
            <a:avLst/>
          </a:prstGeom>
        </p:spPr>
        <p:txBody>
          <a:bodyPr wrap="square"/>
          <a:lstStyle/>
          <a:p>
            <a:pPr algn="l">
              <a:buNone/>
            </a:pPr>
            <a:r>
              <a:rPr lang="th-TH" sz="1800" b="1">
                <a:solidFill>
                  <a:srgbClr val="F8FAFC"/>
                </a:solidFill>
                <a:latin typeface="Tahoma"/>
                <a:ea typeface="Tahoma"/>
              </a:rPr>
              <a:t>Retail / Restaurant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886968" y="1892807"/>
            <a:ext cx="2980944" cy="2761487"/>
          </a:xfrm>
          <a:prstGeom prst="rect">
            <a:avLst/>
          </a:prstGeom>
        </p:spPr>
        <p:txBody>
          <a:bodyPr wrap="square"/>
          <a:lstStyle/>
          <a:p>
            <a:pPr algn="l">
              <a:buNone/>
            </a:pPr>
            <a:r>
              <a:rPr lang="th-TH" sz="1500" b="0">
                <a:solidFill>
                  <a:srgbClr val="CBD5E1"/>
                </a:solidFill>
                <a:latin typeface="Tahoma"/>
                <a:ea typeface="Tahoma"/>
              </a:rPr>
              <a:t>เริ่มด้วย MintPOS</a:t>
            </a:r>
          </a:p>
          <a:p>
            <a:pPr algn="l">
              <a:buNone/>
            </a:pPr>
            <a:r>
              <a:rPr lang="th-TH" sz="1500" b="0">
                <a:solidFill>
                  <a:srgbClr val="CBD5E1"/>
                </a:solidFill>
                <a:latin typeface="Tahoma"/>
                <a:ea typeface="Tahoma"/>
              </a:rPr>
              <a:t>ขายเร็ว เห็นผลทันที</a:t>
            </a:r>
          </a:p>
          <a:p>
            <a:pPr algn="l">
              <a:buNone/>
            </a:pPr>
            <a:r>
              <a:rPr lang="th-TH" sz="1500" b="0">
                <a:solidFill>
                  <a:srgbClr val="CBD5E1"/>
                </a:solidFill>
                <a:latin typeface="Tahoma"/>
                <a:ea typeface="Tahoma"/>
              </a:rPr>
              <a:t>ต่อยอด inventory และ accounting</a:t>
            </a:r>
          </a:p>
        </p:txBody>
      </p:sp>
      <p:sp>
        <p:nvSpPr>
          <p:cNvPr id="9" name="Box 9"/>
          <p:cNvSpPr/>
          <p:nvPr/>
        </p:nvSpPr>
        <p:spPr>
          <a:xfrm>
            <a:off x="4434840" y="1325880"/>
            <a:ext cx="3383280" cy="34747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8B5CF6"/>
            </a:solidFill>
          </a:ln>
        </p:spPr>
      </p:sp>
      <p:sp>
        <p:nvSpPr>
          <p:cNvPr id="10" name="Text 10"/>
          <p:cNvSpPr txBox="1"/>
          <p:nvPr/>
        </p:nvSpPr>
        <p:spPr>
          <a:xfrm>
            <a:off x="4636007" y="1490472"/>
            <a:ext cx="2980944" cy="320040"/>
          </a:xfrm>
          <a:prstGeom prst="rect">
            <a:avLst/>
          </a:prstGeom>
        </p:spPr>
        <p:txBody>
          <a:bodyPr wrap="square"/>
          <a:lstStyle/>
          <a:p>
            <a:pPr algn="l">
              <a:buNone/>
            </a:pPr>
            <a:r>
              <a:rPr lang="th-TH" sz="1800" b="1">
                <a:solidFill>
                  <a:srgbClr val="F8FAFC"/>
                </a:solidFill>
                <a:latin typeface="Tahoma"/>
                <a:ea typeface="Tahoma"/>
              </a:rPr>
              <a:t>Wholesale / Warehouse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4636007" y="1892807"/>
            <a:ext cx="2980944" cy="2761487"/>
          </a:xfrm>
          <a:prstGeom prst="rect">
            <a:avLst/>
          </a:prstGeom>
        </p:spPr>
        <p:txBody>
          <a:bodyPr wrap="square"/>
          <a:lstStyle/>
          <a:p>
            <a:pPr algn="l">
              <a:buNone/>
            </a:pPr>
            <a:r>
              <a:rPr lang="th-TH" sz="1500" b="0">
                <a:solidFill>
                  <a:srgbClr val="CBD5E1"/>
                </a:solidFill>
                <a:latin typeface="Tahoma"/>
                <a:ea typeface="Tahoma"/>
              </a:rPr>
              <a:t>ต่อด้วย MintERP</a:t>
            </a:r>
          </a:p>
          <a:p>
            <a:pPr algn="l">
              <a:buNone/>
            </a:pPr>
            <a:r>
              <a:rPr lang="th-TH" sz="1500" b="0">
                <a:solidFill>
                  <a:srgbClr val="CBD5E1"/>
                </a:solidFill>
                <a:latin typeface="Tahoma"/>
                <a:ea typeface="Tahoma"/>
              </a:rPr>
              <a:t>จัดการ stock, purchase, sales</a:t>
            </a:r>
          </a:p>
          <a:p>
            <a:pPr algn="l">
              <a:buNone/>
            </a:pPr>
            <a:r>
              <a:rPr lang="th-TH" sz="1500" b="0">
                <a:solidFill>
                  <a:srgbClr val="CBD5E1"/>
                </a:solidFill>
                <a:latin typeface="Tahoma"/>
                <a:ea typeface="Tahoma"/>
              </a:rPr>
              <a:t>เพิ่ม dashboard ผู้บริหาร</a:t>
            </a:r>
          </a:p>
        </p:txBody>
      </p:sp>
      <p:sp>
        <p:nvSpPr>
          <p:cNvPr id="12" name="Box 12"/>
          <p:cNvSpPr/>
          <p:nvPr/>
        </p:nvSpPr>
        <p:spPr>
          <a:xfrm>
            <a:off x="8183879" y="1325880"/>
            <a:ext cx="3383280" cy="34747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FBBF24"/>
            </a:solidFill>
          </a:ln>
        </p:spPr>
      </p:sp>
      <p:sp>
        <p:nvSpPr>
          <p:cNvPr id="13" name="Text 13"/>
          <p:cNvSpPr txBox="1"/>
          <p:nvPr/>
        </p:nvSpPr>
        <p:spPr>
          <a:xfrm>
            <a:off x="8385048" y="1490472"/>
            <a:ext cx="2980944" cy="320040"/>
          </a:xfrm>
          <a:prstGeom prst="rect">
            <a:avLst/>
          </a:prstGeom>
        </p:spPr>
        <p:txBody>
          <a:bodyPr wrap="square"/>
          <a:lstStyle/>
          <a:p>
            <a:pPr algn="l">
              <a:buNone/>
            </a:pPr>
            <a:r>
              <a:rPr lang="th-TH" sz="1800" b="1">
                <a:solidFill>
                  <a:srgbClr val="F8FAFC"/>
                </a:solidFill>
                <a:latin typeface="Tahoma"/>
                <a:ea typeface="Tahoma"/>
              </a:rPr>
              <a:t>SME ที่มีระบบเดิม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8385048" y="1892807"/>
            <a:ext cx="2980944" cy="2761487"/>
          </a:xfrm>
          <a:prstGeom prst="rect">
            <a:avLst/>
          </a:prstGeom>
        </p:spPr>
        <p:txBody>
          <a:bodyPr wrap="square"/>
          <a:lstStyle/>
          <a:p>
            <a:pPr algn="l">
              <a:buNone/>
            </a:pPr>
            <a:r>
              <a:rPr lang="th-TH" sz="1500" b="0">
                <a:solidFill>
                  <a:srgbClr val="CBD5E1"/>
                </a:solidFill>
                <a:latin typeface="Tahoma"/>
                <a:ea typeface="Tahoma"/>
              </a:rPr>
              <a:t>ขาย integration และ migration</a:t>
            </a:r>
          </a:p>
          <a:p>
            <a:pPr algn="l">
              <a:buNone/>
            </a:pPr>
            <a:r>
              <a:rPr lang="th-TH" sz="1500" b="0">
                <a:solidFill>
                  <a:srgbClr val="CBD5E1"/>
                </a:solidFill>
                <a:latin typeface="Tahoma"/>
                <a:ea typeface="Tahoma"/>
              </a:rPr>
              <a:t>ลด switching cost</a:t>
            </a:r>
          </a:p>
          <a:p>
            <a:pPr algn="l">
              <a:buNone/>
            </a:pPr>
            <a:r>
              <a:rPr lang="th-TH" sz="1500" b="0">
                <a:solidFill>
                  <a:srgbClr val="CBD5E1"/>
                </a:solidFill>
                <a:latin typeface="Tahoma"/>
                <a:ea typeface="Tahoma"/>
              </a:rPr>
              <a:t>ล็อกอินด้วยบริการหลังขาย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</p:spPr>
        <p:txBody>
          <a:bodyPr wrap="square"/>
          <a:lstStyle/>
          <a:p>
            <a:pPr algn="r">
              <a:buNone/>
            </a:pPr>
            <a:r>
              <a:rPr lang="th-TH" sz="800" b="0">
                <a:solidFill>
                  <a:srgbClr val="64748B"/>
                </a:solidFill>
                <a:latin typeface="Tahoma"/>
                <a:ea typeface="Tahoma"/>
              </a:rPr>
              <a:t>CONFIDENTIAL | AlexiaSoft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</p:sp>
      <p:sp>
        <p:nvSpPr>
          <p:cNvPr id="3" name="Box 3"/>
          <p:cNvSpPr/>
          <p:nvPr/>
        </p:nvSpPr>
        <p:spPr>
          <a:xfrm>
            <a:off x="320040" y="256032"/>
            <a:ext cx="1005840" cy="73152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</p:sp>
      <p:sp>
        <p:nvSpPr>
          <p:cNvPr id="4" name="Box 4"/>
          <p:cNvSpPr/>
          <p:nvPr/>
        </p:nvSpPr>
        <p:spPr>
          <a:xfrm>
            <a:off x="320040" y="384048"/>
            <a:ext cx="502920" cy="73152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594360" y="548640"/>
            <a:ext cx="10789920" cy="731520"/>
          </a:xfrm>
          <a:prstGeom prst="rect">
            <a:avLst/>
          </a:prstGeom>
        </p:spPr>
        <p:txBody>
          <a:bodyPr wrap="square"/>
          <a:lstStyle/>
          <a:p>
            <a:pPr algn="l">
              <a:buNone/>
            </a:pPr>
            <a:r>
              <a:rPr lang="th-TH" sz="3400" b="1">
                <a:solidFill>
                  <a:srgbClr val="F8FAFC"/>
                </a:solidFill>
                <a:latin typeface="Tahoma"/>
                <a:ea typeface="Tahoma"/>
              </a:rPr>
              <a:t>Why AlexiaSoft Wins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731520" y="1874519"/>
            <a:ext cx="10789920" cy="4206240"/>
          </a:xfrm>
          <a:prstGeom prst="rect">
            <a:avLst/>
          </a:prstGeom>
        </p:spPr>
        <p:txBody>
          <a:bodyPr wrap="square"/>
          <a:lstStyle/>
          <a:p>
            <a:pPr algn="l">
              <a:buChar char="•"/>
              <a:buFont typeface="Arial"/>
            </a:pPr>
            <a:r>
              <a:rPr lang="th-TH" sz="2000" b="0">
                <a:solidFill>
                  <a:srgbClr val="F8FAFC"/>
                </a:solidFill>
                <a:latin typeface="Tahoma"/>
                <a:ea typeface="Tahoma"/>
              </a:rPr>
              <a:t>มี product และ implementation ในทีมเดียว: ขายได้ทั้งเร็วและลึก</a:t>
            </a:r>
          </a:p>
          <a:p>
            <a:pPr algn="l">
              <a:buChar char="•"/>
              <a:buFont typeface="Arial"/>
            </a:pPr>
            <a:r>
              <a:rPr lang="th-TH" sz="2000" b="0">
                <a:solidFill>
                  <a:srgbClr val="F8FAFC"/>
                </a:solidFill>
                <a:latin typeface="Tahoma"/>
                <a:ea typeface="Tahoma"/>
              </a:rPr>
              <a:t>เข้าใจ SME ไทย: ภาษา กระบวนการ หน้างาน และ support</a:t>
            </a:r>
          </a:p>
          <a:p>
            <a:pPr algn="l">
              <a:buChar char="•"/>
              <a:buFont typeface="Arial"/>
            </a:pPr>
            <a:r>
              <a:rPr lang="th-TH" sz="2000" b="0">
                <a:solidFill>
                  <a:srgbClr val="F8FAFC"/>
                </a:solidFill>
                <a:latin typeface="Tahoma"/>
                <a:ea typeface="Tahoma"/>
              </a:rPr>
              <a:t>Portfolio กว้าง: ERP, POS, logistic, manufacturing, CRM, HRM, accounting, e-commerce</a:t>
            </a:r>
          </a:p>
          <a:p>
            <a:pPr algn="l">
              <a:buChar char="•"/>
              <a:buFont typeface="Arial"/>
            </a:pPr>
            <a:r>
              <a:rPr lang="th-TH" sz="2000" b="0">
                <a:solidFill>
                  <a:srgbClr val="F8FAFC"/>
                </a:solidFill>
                <a:latin typeface="Tahoma"/>
                <a:ea typeface="Tahoma"/>
              </a:rPr>
              <a:t>Tech stack พร้อม scale: Laravel, React, Vue, Node.js, AWS, Docker</a:t>
            </a:r>
          </a:p>
          <a:p>
            <a:pPr algn="l">
              <a:buChar char="•"/>
              <a:buFont typeface="Arial"/>
            </a:pPr>
            <a:r>
              <a:rPr lang="th-TH" sz="2000" b="0">
                <a:solidFill>
                  <a:srgbClr val="F8FAFC"/>
                </a:solidFill>
                <a:latin typeface="Tahoma"/>
                <a:ea typeface="Tahoma"/>
              </a:rPr>
              <a:t>โอกาสของผู้ซื้อ: ไม่ต้องเริ่มทีม/สินค้า/เว็บ/เดโมจากศูนย์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</p:spPr>
        <p:txBody>
          <a:bodyPr wrap="square"/>
          <a:lstStyle/>
          <a:p>
            <a:pPr algn="r">
              <a:buNone/>
            </a:pPr>
            <a:r>
              <a:rPr lang="th-TH" sz="800" b="0">
                <a:solidFill>
                  <a:srgbClr val="64748B"/>
                </a:solidFill>
                <a:latin typeface="Tahoma"/>
                <a:ea typeface="Tahoma"/>
              </a:rPr>
              <a:t>CONFIDENTIAL | AlexiaSoft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</p:sp>
      <p:sp>
        <p:nvSpPr>
          <p:cNvPr id="3" name="Box 3"/>
          <p:cNvSpPr/>
          <p:nvPr/>
        </p:nvSpPr>
        <p:spPr>
          <a:xfrm>
            <a:off x="320040" y="256032"/>
            <a:ext cx="1005840" cy="73152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</p:sp>
      <p:sp>
        <p:nvSpPr>
          <p:cNvPr id="4" name="Box 4"/>
          <p:cNvSpPr/>
          <p:nvPr/>
        </p:nvSpPr>
        <p:spPr>
          <a:xfrm>
            <a:off x="320040" y="384048"/>
            <a:ext cx="502920" cy="73152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594360" y="548640"/>
            <a:ext cx="10789920" cy="731520"/>
          </a:xfrm>
          <a:prstGeom prst="rect">
            <a:avLst/>
          </a:prstGeom>
        </p:spPr>
        <p:txBody>
          <a:bodyPr wrap="square"/>
          <a:lstStyle/>
          <a:p>
            <a:pPr algn="l">
              <a:buNone/>
            </a:pPr>
            <a:r>
              <a:rPr lang="th-TH" sz="3400" b="1">
                <a:solidFill>
                  <a:srgbClr val="F8FAFC"/>
                </a:solidFill>
                <a:latin typeface="Tahoma"/>
                <a:ea typeface="Tahoma"/>
              </a:rPr>
              <a:t>Use of Capital / 12-Month Growth Plan</a:t>
            </a:r>
          </a:p>
        </p:txBody>
      </p:sp>
      <p:sp>
        <p:nvSpPr>
          <p:cNvPr id="6" name="Box 6"/>
          <p:cNvSpPr/>
          <p:nvPr/>
        </p:nvSpPr>
        <p:spPr>
          <a:xfrm>
            <a:off x="685800" y="1325880"/>
            <a:ext cx="3383280" cy="35661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D4BF"/>
            </a:solidFill>
          </a:ln>
        </p:spPr>
      </p:sp>
      <p:sp>
        <p:nvSpPr>
          <p:cNvPr id="7" name="Text 7"/>
          <p:cNvSpPr txBox="1"/>
          <p:nvPr/>
        </p:nvSpPr>
        <p:spPr>
          <a:xfrm>
            <a:off x="886968" y="1490472"/>
            <a:ext cx="2980944" cy="320040"/>
          </a:xfrm>
          <a:prstGeom prst="rect">
            <a:avLst/>
          </a:prstGeom>
        </p:spPr>
        <p:txBody>
          <a:bodyPr wrap="square"/>
          <a:lstStyle/>
          <a:p>
            <a:pPr algn="l">
              <a:buNone/>
            </a:pPr>
            <a:r>
              <a:rPr lang="th-TH" sz="1800" b="1">
                <a:solidFill>
                  <a:srgbClr val="F8FAFC"/>
                </a:solidFill>
                <a:latin typeface="Tahoma"/>
                <a:ea typeface="Tahoma"/>
              </a:rPr>
              <a:t>Sales Engine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886968" y="1892807"/>
            <a:ext cx="2980944" cy="2852928"/>
          </a:xfrm>
          <a:prstGeom prst="rect">
            <a:avLst/>
          </a:prstGeom>
        </p:spPr>
        <p:txBody>
          <a:bodyPr wrap="square"/>
          <a:lstStyle/>
          <a:p>
            <a:pPr algn="l">
              <a:buChar char="•"/>
              <a:buFont typeface="Arial"/>
            </a:pPr>
            <a:r>
              <a:rPr lang="th-TH" sz="1500" b="0">
                <a:solidFill>
                  <a:srgbClr val="CBD5E1"/>
                </a:solidFill>
                <a:latin typeface="Tahoma"/>
                <a:ea typeface="Tahoma"/>
              </a:rPr>
              <a:t>แพ็กเกจราคาให้ชัด</a:t>
            </a:r>
          </a:p>
          <a:p>
            <a:pPr algn="l">
              <a:buChar char="•"/>
              <a:buFont typeface="Arial"/>
            </a:pPr>
            <a:r>
              <a:rPr lang="th-TH" sz="1500" b="0">
                <a:solidFill>
                  <a:srgbClr val="CBD5E1"/>
                </a:solidFill>
                <a:latin typeface="Tahoma"/>
                <a:ea typeface="Tahoma"/>
              </a:rPr>
              <a:t>Demo funnel + CRM</a:t>
            </a:r>
          </a:p>
          <a:p>
            <a:pPr algn="l">
              <a:buChar char="•"/>
              <a:buFont typeface="Arial"/>
            </a:pPr>
            <a:r>
              <a:rPr lang="th-TH" sz="1500" b="0">
                <a:solidFill>
                  <a:srgbClr val="CBD5E1"/>
                </a:solidFill>
                <a:latin typeface="Tahoma"/>
                <a:ea typeface="Tahoma"/>
              </a:rPr>
              <a:t>Partner/reseller สำหรับต่างจังหวัด</a:t>
            </a:r>
          </a:p>
        </p:txBody>
      </p:sp>
      <p:sp>
        <p:nvSpPr>
          <p:cNvPr id="9" name="Box 9"/>
          <p:cNvSpPr/>
          <p:nvPr/>
        </p:nvSpPr>
        <p:spPr>
          <a:xfrm>
            <a:off x="4434840" y="1325880"/>
            <a:ext cx="3383280" cy="35661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8B5CF6"/>
            </a:solidFill>
          </a:ln>
        </p:spPr>
      </p:sp>
      <p:sp>
        <p:nvSpPr>
          <p:cNvPr id="10" name="Text 10"/>
          <p:cNvSpPr txBox="1"/>
          <p:nvPr/>
        </p:nvSpPr>
        <p:spPr>
          <a:xfrm>
            <a:off x="4636007" y="1490472"/>
            <a:ext cx="2980944" cy="320040"/>
          </a:xfrm>
          <a:prstGeom prst="rect">
            <a:avLst/>
          </a:prstGeom>
        </p:spPr>
        <p:txBody>
          <a:bodyPr wrap="square"/>
          <a:lstStyle/>
          <a:p>
            <a:pPr algn="l">
              <a:buNone/>
            </a:pPr>
            <a:r>
              <a:rPr lang="th-TH" sz="1800" b="1">
                <a:solidFill>
                  <a:srgbClr val="F8FAFC"/>
                </a:solidFill>
                <a:latin typeface="Tahoma"/>
                <a:ea typeface="Tahoma"/>
              </a:rPr>
              <a:t>Product Hardening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4636007" y="1892807"/>
            <a:ext cx="2980944" cy="2852928"/>
          </a:xfrm>
          <a:prstGeom prst="rect">
            <a:avLst/>
          </a:prstGeom>
        </p:spPr>
        <p:txBody>
          <a:bodyPr wrap="square"/>
          <a:lstStyle/>
          <a:p>
            <a:pPr algn="l">
              <a:buChar char="•"/>
              <a:buFont typeface="Arial"/>
            </a:pPr>
            <a:r>
              <a:rPr lang="th-TH" sz="1500" b="0">
                <a:solidFill>
                  <a:srgbClr val="CBD5E1"/>
                </a:solidFill>
                <a:latin typeface="Tahoma"/>
                <a:ea typeface="Tahoma"/>
              </a:rPr>
              <a:t>Billing, onboarding, analytics</a:t>
            </a:r>
          </a:p>
          <a:p>
            <a:pPr algn="l">
              <a:buChar char="•"/>
              <a:buFont typeface="Arial"/>
            </a:pPr>
            <a:r>
              <a:rPr lang="th-TH" sz="1500" b="0">
                <a:solidFill>
                  <a:srgbClr val="CBD5E1"/>
                </a:solidFill>
                <a:latin typeface="Tahoma"/>
                <a:ea typeface="Tahoma"/>
              </a:rPr>
              <a:t>Template workflow รายอุตสาหกรรม</a:t>
            </a:r>
          </a:p>
          <a:p>
            <a:pPr algn="l">
              <a:buChar char="•"/>
              <a:buFont typeface="Arial"/>
            </a:pPr>
            <a:r>
              <a:rPr lang="th-TH" sz="1500" b="0">
                <a:solidFill>
                  <a:srgbClr val="CBD5E1"/>
                </a:solidFill>
                <a:latin typeface="Tahoma"/>
                <a:ea typeface="Tahoma"/>
              </a:rPr>
              <a:t>ลดงาน custom ซ้ำ</a:t>
            </a:r>
          </a:p>
        </p:txBody>
      </p:sp>
      <p:sp>
        <p:nvSpPr>
          <p:cNvPr id="12" name="Box 12"/>
          <p:cNvSpPr/>
          <p:nvPr/>
        </p:nvSpPr>
        <p:spPr>
          <a:xfrm>
            <a:off x="8183879" y="1325880"/>
            <a:ext cx="3383280" cy="35661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FBBF24"/>
            </a:solidFill>
          </a:ln>
        </p:spPr>
      </p:sp>
      <p:sp>
        <p:nvSpPr>
          <p:cNvPr id="13" name="Text 13"/>
          <p:cNvSpPr txBox="1"/>
          <p:nvPr/>
        </p:nvSpPr>
        <p:spPr>
          <a:xfrm>
            <a:off x="8385048" y="1490472"/>
            <a:ext cx="2980944" cy="320040"/>
          </a:xfrm>
          <a:prstGeom prst="rect">
            <a:avLst/>
          </a:prstGeom>
        </p:spPr>
        <p:txBody>
          <a:bodyPr wrap="square"/>
          <a:lstStyle/>
          <a:p>
            <a:pPr algn="l">
              <a:buNone/>
            </a:pPr>
            <a:r>
              <a:rPr lang="th-TH" sz="1800" b="1">
                <a:solidFill>
                  <a:srgbClr val="F8FAFC"/>
                </a:solidFill>
                <a:latin typeface="Tahoma"/>
                <a:ea typeface="Tahoma"/>
              </a:rPr>
              <a:t>Customer Success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8385048" y="1892807"/>
            <a:ext cx="2980944" cy="2852928"/>
          </a:xfrm>
          <a:prstGeom prst="rect">
            <a:avLst/>
          </a:prstGeom>
        </p:spPr>
        <p:txBody>
          <a:bodyPr wrap="square"/>
          <a:lstStyle/>
          <a:p>
            <a:pPr algn="l">
              <a:buChar char="•"/>
              <a:buFont typeface="Arial"/>
            </a:pPr>
            <a:r>
              <a:rPr lang="th-TH" sz="1500" b="0">
                <a:solidFill>
                  <a:srgbClr val="CBD5E1"/>
                </a:solidFill>
                <a:latin typeface="Tahoma"/>
                <a:ea typeface="Tahoma"/>
              </a:rPr>
              <a:t>SLA/Knowledge base</a:t>
            </a:r>
          </a:p>
          <a:p>
            <a:pPr algn="l">
              <a:buChar char="•"/>
              <a:buFont typeface="Arial"/>
            </a:pPr>
            <a:r>
              <a:rPr lang="th-TH" sz="1500" b="0">
                <a:solidFill>
                  <a:srgbClr val="CBD5E1"/>
                </a:solidFill>
                <a:latin typeface="Tahoma"/>
                <a:ea typeface="Tahoma"/>
              </a:rPr>
              <a:t>Training material</a:t>
            </a:r>
          </a:p>
          <a:p>
            <a:pPr algn="l">
              <a:buChar char="•"/>
              <a:buFont typeface="Arial"/>
            </a:pPr>
            <a:r>
              <a:rPr lang="th-TH" sz="1500" b="0">
                <a:solidFill>
                  <a:srgbClr val="CBD5E1"/>
                </a:solidFill>
                <a:latin typeface="Tahoma"/>
                <a:ea typeface="Tahoma"/>
              </a:rPr>
              <a:t>Retention และ upsell playbook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</p:spPr>
        <p:txBody>
          <a:bodyPr wrap="square"/>
          <a:lstStyle/>
          <a:p>
            <a:pPr algn="r">
              <a:buNone/>
            </a:pPr>
            <a:r>
              <a:rPr lang="th-TH" sz="800" b="0">
                <a:solidFill>
                  <a:srgbClr val="64748B"/>
                </a:solidFill>
                <a:latin typeface="Tahoma"/>
                <a:ea typeface="Tahoma"/>
              </a:rPr>
              <a:t>CONFIDENTIAL | AlexiaSoft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</p:sp>
      <p:sp>
        <p:nvSpPr>
          <p:cNvPr id="3" name="Box 3"/>
          <p:cNvSpPr/>
          <p:nvPr/>
        </p:nvSpPr>
        <p:spPr>
          <a:xfrm>
            <a:off x="320040" y="256032"/>
            <a:ext cx="1005840" cy="73152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</p:sp>
      <p:sp>
        <p:nvSpPr>
          <p:cNvPr id="4" name="Box 4"/>
          <p:cNvSpPr/>
          <p:nvPr/>
        </p:nvSpPr>
        <p:spPr>
          <a:xfrm>
            <a:off x="320040" y="384048"/>
            <a:ext cx="502920" cy="73152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594360" y="548640"/>
            <a:ext cx="10789920" cy="731520"/>
          </a:xfrm>
          <a:prstGeom prst="rect">
            <a:avLst/>
          </a:prstGeom>
        </p:spPr>
        <p:txBody>
          <a:bodyPr wrap="square"/>
          <a:lstStyle/>
          <a:p>
            <a:pPr algn="l">
              <a:buNone/>
            </a:pPr>
            <a:r>
              <a:rPr lang="th-TH" sz="3400" b="1">
                <a:solidFill>
                  <a:srgbClr val="F8FAFC"/>
                </a:solidFill>
                <a:latin typeface="Tahoma"/>
                <a:ea typeface="Tahoma"/>
              </a:rPr>
              <a:t>Deal Options / Ask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612648" y="1234440"/>
            <a:ext cx="10515600" cy="502920"/>
          </a:xfrm>
          <a:prstGeom prst="rect">
            <a:avLst/>
          </a:prstGeom>
        </p:spPr>
        <p:txBody>
          <a:bodyPr wrap="square"/>
          <a:lstStyle/>
          <a:p>
            <a:pPr algn="l">
              <a:buNone/>
            </a:pPr>
            <a:r>
              <a:rPr lang="th-TH" sz="1800" b="0">
                <a:solidFill>
                  <a:srgbClr val="CBD5E1"/>
                </a:solidFill>
                <a:latin typeface="Tahoma"/>
                <a:ea typeface="Tahoma"/>
              </a:rPr>
              <a:t>ตัวเลขดีลควรใส่หลังยืนยันรายได้, MRR, CAC, churn และ IP ownership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731520" y="1874519"/>
            <a:ext cx="10789920" cy="4206240"/>
          </a:xfrm>
          <a:prstGeom prst="rect">
            <a:avLst/>
          </a:prstGeom>
        </p:spPr>
        <p:txBody>
          <a:bodyPr wrap="square"/>
          <a:lstStyle/>
          <a:p>
            <a:pPr algn="l">
              <a:buNone/>
            </a:pPr>
            <a:r>
              <a:rPr lang="th-TH" sz="2000" b="0">
                <a:solidFill>
                  <a:srgbClr val="F8FAFC"/>
                </a:solidFill>
                <a:latin typeface="Tahoma"/>
                <a:ea typeface="Tahoma"/>
              </a:rPr>
              <a:t>Option A — Acquisition: ซื้อบริษัทพร้อม product/IP/team/client pipeline</a:t>
            </a:r>
          </a:p>
          <a:p>
            <a:pPr algn="l">
              <a:buNone/>
            </a:pPr>
            <a:r>
              <a:rPr lang="th-TH" sz="2000" b="0">
                <a:solidFill>
                  <a:srgbClr val="F8FAFC"/>
                </a:solidFill>
                <a:latin typeface="Tahoma"/>
                <a:ea typeface="Tahoma"/>
              </a:rPr>
              <a:t>Option B — Strategic Investment: ลงทุนเพื่อเร่ง sales/product และรับ equity</a:t>
            </a:r>
          </a:p>
          <a:p>
            <a:pPr algn="l">
              <a:buNone/>
            </a:pPr>
            <a:r>
              <a:rPr lang="th-TH" sz="2000" b="0">
                <a:solidFill>
                  <a:srgbClr val="F8FAFC"/>
                </a:solidFill>
                <a:latin typeface="Tahoma"/>
                <a:ea typeface="Tahoma"/>
              </a:rPr>
              <a:t>Option C — JV/Reseller: ผู้ซื้อช่วยช่องทางขาย AlexiaSoft ช่วย product + delivery</a:t>
            </a:r>
          </a:p>
          <a:p>
            <a:pPr algn="l">
              <a:buNone/>
            </a:pPr>
            <a:r>
              <a:rPr lang="th-TH" sz="2000" b="0">
                <a:solidFill>
                  <a:srgbClr val="F8FAFC"/>
                </a:solidFill>
                <a:latin typeface="Tahoma"/>
                <a:ea typeface="Tahoma"/>
              </a:rPr>
              <a:t/>
            </a:r>
          </a:p>
          <a:p>
            <a:pPr algn="l">
              <a:buNone/>
            </a:pPr>
            <a:r>
              <a:rPr lang="th-TH" sz="2000" b="0">
                <a:solidFill>
                  <a:srgbClr val="F8FAFC"/>
                </a:solidFill>
                <a:latin typeface="Tahoma"/>
                <a:ea typeface="Tahoma"/>
              </a:rPr>
              <a:t>Next step: Due diligence 2 สัปดาห์ — financials, customer list, source code, demo, contracts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</p:spPr>
        <p:txBody>
          <a:bodyPr wrap="square"/>
          <a:lstStyle/>
          <a:p>
            <a:pPr algn="r">
              <a:buNone/>
            </a:pPr>
            <a:r>
              <a:rPr lang="th-TH" sz="800" b="0">
                <a:solidFill>
                  <a:srgbClr val="64748B"/>
                </a:solidFill>
                <a:latin typeface="Tahoma"/>
                <a:ea typeface="Tahoma"/>
              </a:rPr>
              <a:t>CONFIDENTIAL | AlexiaSoft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lexiaSoft">
  <a:themeElements>
    <a:clrScheme name="Alexia">
      <a:dk1>
        <a:srgbClr val="0B1020"/>
      </a:dk1>
      <a:lt1>
        <a:srgbClr val="F8FAFC"/>
      </a:lt1>
      <a:dk2>
        <a:srgbClr val="111827"/>
      </a:dk2>
      <a:lt2>
        <a:srgbClr val="CBD5E1"/>
      </a:lt2>
      <a:accent1>
        <a:srgbClr val="2DD4BF"/>
      </a:accent1>
      <a:accent2>
        <a:srgbClr val="8B5CF6"/>
      </a:accent2>
      <a:accent3>
        <a:srgbClr val="FBBF24"/>
      </a:accent3>
      <a:accent4>
        <a:srgbClr val="FB7185"/>
      </a:accent4>
      <a:accent5>
        <a:srgbClr val="34D399"/>
      </a:accent5>
      <a:accent6>
        <a:srgbClr val="60A5FA"/>
      </a:accent6>
      <a:hlink>
        <a:srgbClr val="2DD4BF"/>
      </a:hlink>
      <a:folHlink>
        <a:srgbClr val="8B5CF6"/>
      </a:folHlink>
    </a:clrScheme>
    <a:fontScheme name="Tahoma">
      <a:majorFont>
        <a:latin typeface="Tahoma"/>
        <a:ea typeface="Tahoma"/>
      </a:majorFont>
      <a:minorFont>
        <a:latin typeface="Tahoma"/>
        <a:ea typeface="Tahoma"/>
      </a:minorFont>
    </a:fontScheme>
    <a:fmtScheme name="default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Pi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AlexiaSoft Investor Pitch</dc:title>
  <dc:creator>AlexiaSoft</dc:creator>
</cp:coreProperties>
</file>